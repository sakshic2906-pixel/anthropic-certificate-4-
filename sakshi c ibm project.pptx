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86250" y="0"/>
            <a:ext cx="7143750" cy="6438900"/>
          </a:xfrm>
          <a:custGeom>
            <a:avLst/>
            <a:gdLst/>
            <a:ahLst/>
            <a:cxnLst/>
            <a:rect l="l" t="t" r="r" b="b"/>
            <a:pathLst>
              <a:path w="7143750" h="6438900">
                <a:moveTo>
                  <a:pt x="0" y="6438900"/>
                </a:moveTo>
                <a:lnTo>
                  <a:pt x="7143750" y="6438900"/>
                </a:lnTo>
                <a:lnTo>
                  <a:pt x="7143750" y="0"/>
                </a:lnTo>
                <a:lnTo>
                  <a:pt x="0" y="0"/>
                </a:lnTo>
                <a:lnTo>
                  <a:pt x="0" y="643890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286250" cy="6438900"/>
          </a:xfrm>
          <a:custGeom>
            <a:avLst/>
            <a:gdLst/>
            <a:ahLst/>
            <a:cxnLst/>
            <a:rect l="l" t="t" r="r" b="b"/>
            <a:pathLst>
              <a:path w="4286250" h="6438900">
                <a:moveTo>
                  <a:pt x="4286250" y="0"/>
                </a:moveTo>
                <a:lnTo>
                  <a:pt x="0" y="0"/>
                </a:lnTo>
                <a:lnTo>
                  <a:pt x="0" y="6438900"/>
                </a:lnTo>
                <a:lnTo>
                  <a:pt x="4286250" y="6438900"/>
                </a:lnTo>
                <a:lnTo>
                  <a:pt x="428625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33349"/>
            <a:ext cx="4114799" cy="61721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5" y="2035175"/>
            <a:ext cx="4683759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4" y="454024"/>
            <a:ext cx="17113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0221" y="2764106"/>
            <a:ext cx="11187430" cy="3006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gamma.app/?utm_source=made-with-gamma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459287" y="1017628"/>
            <a:ext cx="9473565" cy="488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626995" algn="l"/>
              </a:tabLst>
            </a:pPr>
            <a:r>
              <a:rPr sz="3000" dirty="0">
                <a:solidFill>
                  <a:srgbClr val="000000"/>
                </a:solidFill>
                <a:latin typeface="Verdana"/>
                <a:cs typeface="Verdana"/>
              </a:rPr>
              <a:t>ProjectTitle–	</a:t>
            </a:r>
            <a:r>
              <a:rPr sz="3000" spc="-140" dirty="0">
                <a:solidFill>
                  <a:srgbClr val="000000"/>
                </a:solidFill>
                <a:latin typeface="Verdana"/>
                <a:cs typeface="Verdana"/>
              </a:rPr>
              <a:t>Al-</a:t>
            </a:r>
            <a:r>
              <a:rPr sz="3000" spc="-145" dirty="0">
                <a:solidFill>
                  <a:srgbClr val="000000"/>
                </a:solidFill>
                <a:latin typeface="Verdana"/>
                <a:cs typeface="Verdana"/>
              </a:rPr>
              <a:t>PoweredNAACAccreditationAssistant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9287" y="1821300"/>
            <a:ext cx="3359785" cy="4883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000" spc="-220" dirty="0">
                <a:latin typeface="Verdana"/>
                <a:cs typeface="Verdana"/>
              </a:rPr>
              <a:t>Domain</a:t>
            </a:r>
            <a:r>
              <a:rPr sz="3000" spc="-365" dirty="0">
                <a:latin typeface="Verdana"/>
                <a:cs typeface="Verdana"/>
              </a:rPr>
              <a:t> </a:t>
            </a:r>
            <a:r>
              <a:rPr sz="3000" spc="-125" dirty="0">
                <a:latin typeface="Verdana"/>
                <a:cs typeface="Verdana"/>
              </a:rPr>
              <a:t>of</a:t>
            </a:r>
            <a:r>
              <a:rPr sz="3000" spc="-365" dirty="0">
                <a:latin typeface="Verdana"/>
                <a:cs typeface="Verdana"/>
              </a:rPr>
              <a:t> </a:t>
            </a:r>
            <a:r>
              <a:rPr sz="3000" spc="-160" dirty="0">
                <a:latin typeface="Verdana"/>
                <a:cs typeface="Verdana"/>
              </a:rPr>
              <a:t>Project</a:t>
            </a:r>
            <a:r>
              <a:rPr sz="3000" spc="-365" dirty="0">
                <a:latin typeface="Verdana"/>
                <a:cs typeface="Verdana"/>
              </a:rPr>
              <a:t> </a:t>
            </a:r>
            <a:r>
              <a:rPr sz="3000" spc="-50" dirty="0">
                <a:latin typeface="Verdana"/>
                <a:cs typeface="Verdana"/>
              </a:rPr>
              <a:t>–</a:t>
            </a:r>
            <a:endParaRPr sz="3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55835" y="1869678"/>
            <a:ext cx="18326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5" dirty="0">
                <a:latin typeface="Verdana"/>
                <a:cs typeface="Verdana"/>
              </a:rPr>
              <a:t>Education</a:t>
            </a:r>
            <a:endParaRPr sz="3000">
              <a:latin typeface="Verdana"/>
              <a:cs typeface="Verdan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4370831" y="2770631"/>
            <a:ext cx="11089005" cy="3017520"/>
            <a:chOff x="4370831" y="2770631"/>
            <a:chExt cx="11089005" cy="3017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0831" y="2770631"/>
              <a:ext cx="5544848" cy="10595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14377" y="2770631"/>
              <a:ext cx="2773069" cy="1059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86156" y="2770631"/>
              <a:ext cx="2773069" cy="10595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0831" y="3870773"/>
              <a:ext cx="5542169" cy="19168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4377" y="3870773"/>
              <a:ext cx="2770390" cy="19168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86156" y="3870773"/>
              <a:ext cx="2770390" cy="1916810"/>
            </a:xfrm>
            <a:prstGeom prst="rect">
              <a:avLst/>
            </a:prstGeom>
          </p:spPr>
        </p:pic>
      </p:grp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043276"/>
              </p:ext>
            </p:extLst>
          </p:nvPr>
        </p:nvGraphicFramePr>
        <p:xfrm>
          <a:off x="4348321" y="2764106"/>
          <a:ext cx="11095354" cy="3006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0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1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0610"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350" spc="-20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St</a:t>
                      </a:r>
                      <a:r>
                        <a:rPr sz="2350" spc="-14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spc="-4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udent</a:t>
                      </a:r>
                      <a:r>
                        <a:rPr sz="2350" spc="-14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2350" spc="-13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spc="-8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am</a:t>
                      </a:r>
                      <a:r>
                        <a:rPr sz="2350" spc="-14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spc="-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</a:t>
                      </a:r>
                      <a:endParaRPr sz="2350">
                        <a:latin typeface="Verdana"/>
                        <a:cs typeface="Verdana"/>
                      </a:endParaRPr>
                    </a:p>
                  </a:txBody>
                  <a:tcPr marL="0" marR="0" marT="8826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350" spc="-168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sz="4050" spc="-254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350" spc="-127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050" spc="-794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r>
                        <a:rPr sz="2350" spc="-72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sz="4050" spc="-1545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2350" spc="-36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050" spc="-1095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350" spc="-86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050" spc="-1267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2350" spc="-3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2350" spc="-13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spc="-1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Passport</a:t>
                      </a:r>
                      <a:endParaRPr sz="2350">
                        <a:latin typeface="Verdana"/>
                        <a:cs typeface="Verdana"/>
                      </a:endParaRPr>
                    </a:p>
                  </a:txBody>
                  <a:tcPr marL="0" marR="0" marT="501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350" spc="-8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Email</a:t>
                      </a:r>
                      <a:r>
                        <a:rPr sz="2350" spc="-1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350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ID</a:t>
                      </a:r>
                      <a:endParaRPr sz="2350">
                        <a:latin typeface="Verdana"/>
                        <a:cs typeface="Verdana"/>
                      </a:endParaRPr>
                    </a:p>
                  </a:txBody>
                  <a:tcPr marL="0" marR="0" marT="882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4050" spc="-1942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[</a:t>
                      </a:r>
                      <a:r>
                        <a:rPr sz="2350" spc="-119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4050" spc="-2115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W</a:t>
                      </a:r>
                      <a:r>
                        <a:rPr sz="2350" spc="-19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sz="4050" spc="-2422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h</a:t>
                      </a:r>
                      <a:r>
                        <a:rPr sz="2350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2350" spc="-66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i</a:t>
                      </a:r>
                      <a:r>
                        <a:rPr sz="4050" spc="-1597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350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l</a:t>
                      </a:r>
                      <a:r>
                        <a:rPr sz="2350" spc="-111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4050" spc="-30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sz="4050" spc="-1095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s</a:t>
                      </a:r>
                      <a:r>
                        <a:rPr sz="2350" spc="-894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n</a:t>
                      </a:r>
                      <a:r>
                        <a:rPr sz="4050" spc="-1507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2350" spc="-6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u</a:t>
                      </a:r>
                      <a:r>
                        <a:rPr sz="4050" spc="-1739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350" spc="-119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sz="4050" spc="-922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p</a:t>
                      </a:r>
                      <a:r>
                        <a:rPr sz="2350" spc="-950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b</a:t>
                      </a:r>
                      <a:r>
                        <a:rPr sz="4050" spc="-67" baseline="-27777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]</a:t>
                      </a:r>
                      <a:r>
                        <a:rPr sz="2350" spc="-2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sz="2350" spc="-55" dirty="0">
                          <a:solidFill>
                            <a:srgbClr val="FFFFFF"/>
                          </a:solidFill>
                          <a:latin typeface="Verdana"/>
                          <a:cs typeface="Verdana"/>
                        </a:rPr>
                        <a:t>r</a:t>
                      </a:r>
                      <a:endParaRPr sz="2350">
                        <a:latin typeface="Verdana"/>
                        <a:cs typeface="Verdana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80">
                <a:tc>
                  <a:txBody>
                    <a:bodyPr/>
                    <a:lstStyle/>
                    <a:p>
                      <a:pPr marL="144145" marR="221615">
                        <a:lnSpc>
                          <a:spcPts val="3120"/>
                        </a:lnSpc>
                        <a:spcBef>
                          <a:spcPts val="1060"/>
                        </a:spcBef>
                      </a:pPr>
                      <a:r>
                        <a:rPr lang="en-IN" sz="2700" dirty="0">
                          <a:latin typeface="Sitka Text" pitchFamily="2" charset="0"/>
                          <a:cs typeface="Verdana"/>
                        </a:rPr>
                        <a:t>Sakshi Sanjay Chimukale </a:t>
                      </a:r>
                      <a:endParaRPr sz="2700" dirty="0">
                        <a:latin typeface="Sitka Text" pitchFamily="2" charset="0"/>
                        <a:cs typeface="Verdana"/>
                      </a:endParaRPr>
                    </a:p>
                  </a:txBody>
                  <a:tcPr marL="0" marR="0" marT="13462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ts val="3180"/>
                        </a:lnSpc>
                        <a:spcBef>
                          <a:spcPts val="855"/>
                        </a:spcBef>
                      </a:pPr>
                      <a:r>
                        <a:rPr lang="en-IN" sz="2700" dirty="0">
                          <a:latin typeface="Sitka Text" pitchFamily="2" charset="0"/>
                          <a:cs typeface="Verdana"/>
                        </a:rPr>
                        <a:t>sakshic2906@gmail.com</a:t>
                      </a:r>
                      <a:endParaRPr sz="2700" dirty="0">
                        <a:latin typeface="Sitka Text" pitchFamily="2" charset="0"/>
                        <a:cs typeface="Verdana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lang="en-IN" sz="2700" spc="-110" dirty="0">
                          <a:latin typeface="Roman"/>
                          <a:cs typeface="Verdana"/>
                        </a:rPr>
                        <a:t>8237942906</a:t>
                      </a:r>
                      <a:endParaRPr sz="2700" dirty="0">
                        <a:latin typeface="Roman"/>
                        <a:cs typeface="Verdana"/>
                      </a:endParaRPr>
                    </a:p>
                  </a:txBody>
                  <a:tcPr marL="0" marR="0" marT="1117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B13AD750-8DCB-055B-6CE0-D3080B6E00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377" y="3870773"/>
            <a:ext cx="2438224" cy="1653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204" dirty="0"/>
              <a:t>AI-</a:t>
            </a:r>
            <a:r>
              <a:rPr spc="165" dirty="0"/>
              <a:t>Powgígd</a:t>
            </a:r>
            <a:r>
              <a:rPr spc="-345" dirty="0"/>
              <a:t> </a:t>
            </a:r>
            <a:r>
              <a:rPr spc="345" dirty="0"/>
              <a:t>NAAC </a:t>
            </a:r>
            <a:r>
              <a:rPr spc="180" dirty="0"/>
              <a:t>Accígdit3tion</a:t>
            </a:r>
            <a:r>
              <a:rPr spc="-340" dirty="0"/>
              <a:t> </a:t>
            </a:r>
            <a:r>
              <a:rPr spc="135" dirty="0"/>
              <a:t>Assist3nt</a:t>
            </a:r>
          </a:p>
        </p:txBody>
      </p:sp>
      <p:sp>
        <p:nvSpPr>
          <p:cNvPr id="3" name="object 3"/>
          <p:cNvSpPr/>
          <p:nvPr/>
        </p:nvSpPr>
        <p:spPr>
          <a:xfrm>
            <a:off x="4886325" y="4124325"/>
            <a:ext cx="2038350" cy="257175"/>
          </a:xfrm>
          <a:custGeom>
            <a:avLst/>
            <a:gdLst/>
            <a:ahLst/>
            <a:cxnLst/>
            <a:rect l="l" t="t" r="r" b="b"/>
            <a:pathLst>
              <a:path w="2038350" h="257175">
                <a:moveTo>
                  <a:pt x="2023478" y="0"/>
                </a:moveTo>
                <a:lnTo>
                  <a:pt x="14871" y="0"/>
                </a:lnTo>
                <a:lnTo>
                  <a:pt x="12687" y="431"/>
                </a:lnTo>
                <a:lnTo>
                  <a:pt x="0" y="14871"/>
                </a:lnTo>
                <a:lnTo>
                  <a:pt x="0" y="240030"/>
                </a:lnTo>
                <a:lnTo>
                  <a:pt x="0" y="242303"/>
                </a:lnTo>
                <a:lnTo>
                  <a:pt x="14871" y="257175"/>
                </a:lnTo>
                <a:lnTo>
                  <a:pt x="2023478" y="257175"/>
                </a:lnTo>
                <a:lnTo>
                  <a:pt x="2038350" y="242303"/>
                </a:lnTo>
                <a:lnTo>
                  <a:pt x="2038350" y="14871"/>
                </a:lnTo>
                <a:lnTo>
                  <a:pt x="2025662" y="431"/>
                </a:lnTo>
                <a:lnTo>
                  <a:pt x="2023478" y="0"/>
                </a:lnTo>
                <a:close/>
              </a:path>
            </a:pathLst>
          </a:custGeom>
          <a:solidFill>
            <a:srgbClr val="49490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873625" y="3326765"/>
            <a:ext cx="5798185" cy="1009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A 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RAG-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based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intelligent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agent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designed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empower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faculty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with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precise,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context-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aware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support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throughout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accreditation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process.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350">
              <a:latin typeface="Verdana"/>
              <a:cs typeface="Verdana"/>
            </a:endParaRPr>
          </a:p>
          <a:p>
            <a:pPr marL="114935">
              <a:lnSpc>
                <a:spcPct val="100000"/>
              </a:lnSpc>
            </a:pPr>
            <a:r>
              <a:rPr sz="1050" spc="-25" dirty="0">
                <a:solidFill>
                  <a:srgbClr val="BEBEBE"/>
                </a:solidFill>
                <a:latin typeface="Verdana"/>
                <a:cs typeface="Verdana"/>
              </a:rPr>
              <a:t>PROBLEM</a:t>
            </a:r>
            <a:r>
              <a:rPr sz="1050" spc="-50" dirty="0">
                <a:solidFill>
                  <a:srgbClr val="BEBEBE"/>
                </a:solidFill>
                <a:latin typeface="Verdana"/>
                <a:cs typeface="Verdana"/>
              </a:rPr>
              <a:t> STATEMENT</a:t>
            </a:r>
            <a:r>
              <a:rPr sz="1050" spc="-4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050" spc="-35" dirty="0">
                <a:solidFill>
                  <a:srgbClr val="BEBEBE"/>
                </a:solidFill>
                <a:latin typeface="Verdana"/>
                <a:cs typeface="Verdana"/>
              </a:rPr>
              <a:t>NO.</a:t>
            </a:r>
            <a:r>
              <a:rPr sz="1050" spc="-50" dirty="0">
                <a:solidFill>
                  <a:srgbClr val="BEBEBE"/>
                </a:solidFill>
                <a:latin typeface="Verdana"/>
                <a:cs typeface="Verdana"/>
              </a:rPr>
              <a:t> 3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5" name="object 5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4286249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899"/>
                  </a:moveTo>
                  <a:lnTo>
                    <a:pt x="7143749" y="6438899"/>
                  </a:lnTo>
                  <a:lnTo>
                    <a:pt x="7143749" y="0"/>
                  </a:lnTo>
                  <a:lnTo>
                    <a:pt x="0" y="0"/>
                  </a:lnTo>
                  <a:lnTo>
                    <a:pt x="0" y="643889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49" y="6438899"/>
                  </a:moveTo>
                  <a:lnTo>
                    <a:pt x="0" y="6438899"/>
                  </a:lnTo>
                  <a:lnTo>
                    <a:pt x="0" y="0"/>
                  </a:lnTo>
                  <a:lnTo>
                    <a:pt x="4286249" y="0"/>
                  </a:lnTo>
                  <a:lnTo>
                    <a:pt x="4286249" y="6438899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4" y="133349"/>
              <a:ext cx="4114799" cy="61721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73624" y="2111375"/>
            <a:ext cx="57257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80" dirty="0"/>
              <a:t>The</a:t>
            </a:r>
            <a:r>
              <a:rPr spc="-355" dirty="0"/>
              <a:t> </a:t>
            </a:r>
            <a:r>
              <a:rPr spc="190" dirty="0"/>
              <a:t>Accíeditation</a:t>
            </a:r>
            <a:r>
              <a:rPr spc="-350" dirty="0"/>
              <a:t> </a:t>
            </a:r>
            <a:r>
              <a:rPr spc="155" dirty="0"/>
              <a:t>Challenge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873624" y="2888615"/>
            <a:ext cx="5919470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accreditation demands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extensive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documentation,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strict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compliance,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deep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knowledge.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Faculty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spend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significant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time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on</a:t>
            </a:r>
            <a:endParaRPr sz="1350">
              <a:latin typeface="Verdana"/>
              <a:cs typeface="Verdana"/>
            </a:endParaRPr>
          </a:p>
          <a:p>
            <a:pPr marL="12700" marR="241300">
              <a:lnSpc>
                <a:spcPct val="134300"/>
              </a:lnSpc>
            </a:pP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repetitive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tasks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generating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65" dirty="0">
                <a:solidFill>
                  <a:srgbClr val="BEBEBE"/>
                </a:solidFill>
                <a:latin typeface="Verdana"/>
                <a:cs typeface="Verdana"/>
              </a:rPr>
              <a:t>SSR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drafts,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compiling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criteria-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wise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inputs,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documenting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best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practices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often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without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structured,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context-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aware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guidance.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1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75" dirty="0"/>
              <a:t>Wk3t</a:t>
            </a:r>
            <a:r>
              <a:rPr spc="-385" dirty="0"/>
              <a:t> </a:t>
            </a:r>
            <a:r>
              <a:rPr spc="-140" dirty="0"/>
              <a:t>Is</a:t>
            </a:r>
            <a:r>
              <a:rPr spc="-380" dirty="0"/>
              <a:t> </a:t>
            </a:r>
            <a:r>
              <a:rPr spc="455" dirty="0"/>
              <a:t>RA“?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962149"/>
            <a:ext cx="3305174" cy="33051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23705" y="2840037"/>
            <a:ext cx="6517640" cy="152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5" dirty="0">
                <a:solidFill>
                  <a:srgbClr val="FEFEFE"/>
                </a:solidFill>
                <a:latin typeface="Tahoma"/>
                <a:cs typeface="Tahoma"/>
              </a:rPr>
              <a:t>Rgtíigv3l-</a:t>
            </a:r>
            <a:r>
              <a:rPr sz="1650" spc="145" dirty="0">
                <a:solidFill>
                  <a:srgbClr val="FEFEFE"/>
                </a:solidFill>
                <a:latin typeface="Tahoma"/>
                <a:cs typeface="Tahoma"/>
              </a:rPr>
              <a:t>AugÉgntgd</a:t>
            </a:r>
            <a:r>
              <a:rPr sz="1650" spc="-135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650" spc="120" dirty="0">
                <a:solidFill>
                  <a:srgbClr val="FEFEFE"/>
                </a:solidFill>
                <a:latin typeface="Tahoma"/>
                <a:cs typeface="Tahoma"/>
              </a:rPr>
              <a:t>“gngí3tion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RAG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combines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retrieval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system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with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a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generative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BEBEBE"/>
                </a:solidFill>
                <a:latin typeface="Verdana"/>
                <a:cs typeface="Verdana"/>
              </a:rPr>
              <a:t>AI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model.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BEBEBE"/>
                </a:solidFill>
                <a:latin typeface="Verdana"/>
                <a:cs typeface="Verdana"/>
              </a:rPr>
              <a:t>It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first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Arial Black"/>
                <a:cs typeface="Arial Black"/>
              </a:rPr>
              <a:t>fetches </a:t>
            </a:r>
            <a:r>
              <a:rPr sz="1350" spc="-60" dirty="0">
                <a:solidFill>
                  <a:srgbClr val="BEBEBE"/>
                </a:solidFill>
                <a:latin typeface="Arial Black"/>
                <a:cs typeface="Arial Black"/>
              </a:rPr>
              <a:t>relevant </a:t>
            </a:r>
            <a:r>
              <a:rPr sz="1350" spc="-80" dirty="0">
                <a:solidFill>
                  <a:srgbClr val="BEBEBE"/>
                </a:solidFill>
                <a:latin typeface="Arial Black"/>
                <a:cs typeface="Arial Black"/>
              </a:rPr>
              <a:t>documents</a:t>
            </a:r>
            <a:r>
              <a:rPr sz="1350" spc="-5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from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trusted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sources,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then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uses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those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sources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Arial Black"/>
                <a:cs typeface="Arial Black"/>
              </a:rPr>
              <a:t>generate </a:t>
            </a:r>
            <a:r>
              <a:rPr sz="1350" spc="-90" dirty="0">
                <a:solidFill>
                  <a:srgbClr val="BEBEBE"/>
                </a:solidFill>
                <a:latin typeface="Arial Black"/>
                <a:cs typeface="Arial Black"/>
              </a:rPr>
              <a:t>accurate,</a:t>
            </a:r>
            <a:r>
              <a:rPr sz="1350" spc="-5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Arial Black"/>
                <a:cs typeface="Arial Black"/>
              </a:rPr>
              <a:t>grounded</a:t>
            </a:r>
            <a:r>
              <a:rPr sz="1350" spc="-50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100" dirty="0">
                <a:solidFill>
                  <a:srgbClr val="BEBEBE"/>
                </a:solidFill>
                <a:latin typeface="Arial Black"/>
                <a:cs typeface="Arial Black"/>
              </a:rPr>
              <a:t>responses</a:t>
            </a:r>
            <a:r>
              <a:rPr sz="1350" spc="-50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eliminating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hallucinations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ensuring</a:t>
            </a: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context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is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always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reflected.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6" name="object 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5" dirty="0"/>
              <a:t>How</a:t>
            </a:r>
            <a:r>
              <a:rPr spc="-370" dirty="0"/>
              <a:t> </a:t>
            </a:r>
            <a:r>
              <a:rPr spc="204" dirty="0"/>
              <a:t>tkg</a:t>
            </a:r>
            <a:r>
              <a:rPr spc="-365" dirty="0"/>
              <a:t> </a:t>
            </a:r>
            <a:r>
              <a:rPr dirty="0"/>
              <a:t>AI</a:t>
            </a:r>
            <a:r>
              <a:rPr spc="-365" dirty="0"/>
              <a:t> </a:t>
            </a:r>
            <a:r>
              <a:rPr spc="185" dirty="0"/>
              <a:t>Aggnt</a:t>
            </a:r>
            <a:r>
              <a:rPr spc="-365" dirty="0"/>
              <a:t> </a:t>
            </a:r>
            <a:r>
              <a:rPr spc="245" dirty="0"/>
              <a:t>Woíks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6603" y="1619831"/>
            <a:ext cx="7649055" cy="201521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45944" y="4220771"/>
            <a:ext cx="151701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BEBEBE"/>
                </a:solidFill>
                <a:latin typeface="Tahoma"/>
                <a:cs typeface="Tahoma"/>
              </a:rPr>
              <a:t>F3cultQ</a:t>
            </a:r>
            <a:r>
              <a:rPr sz="1800" spc="-12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BEBEBE"/>
                </a:solidFill>
                <a:latin typeface="Tahoma"/>
                <a:cs typeface="Tahoma"/>
              </a:rPr>
              <a:t>QugíQ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6354" y="4220771"/>
            <a:ext cx="1462405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55" dirty="0">
                <a:solidFill>
                  <a:srgbClr val="BEBEBE"/>
                </a:solidFill>
                <a:latin typeface="Tahoma"/>
                <a:cs typeface="Tahoma"/>
              </a:rPr>
              <a:t>Rgtíigvg</a:t>
            </a:r>
            <a:r>
              <a:rPr sz="1800" spc="-19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BEBEBE"/>
                </a:solidFill>
                <a:latin typeface="Tahoma"/>
                <a:cs typeface="Tahoma"/>
              </a:rPr>
              <a:t>D3t3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51756" y="4057098"/>
            <a:ext cx="107569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765">
              <a:lnSpc>
                <a:spcPct val="108100"/>
              </a:lnSpc>
              <a:spcBef>
                <a:spcPts val="95"/>
              </a:spcBef>
            </a:pPr>
            <a:r>
              <a:rPr sz="1800" spc="125" dirty="0">
                <a:solidFill>
                  <a:srgbClr val="BEBEBE"/>
                </a:solidFill>
                <a:latin typeface="Tahoma"/>
                <a:cs typeface="Tahoma"/>
              </a:rPr>
              <a:t>“gngí3tg </a:t>
            </a:r>
            <a:r>
              <a:rPr sz="1800" spc="55" dirty="0">
                <a:solidFill>
                  <a:srgbClr val="BEBEBE"/>
                </a:solidFill>
                <a:latin typeface="Tahoma"/>
                <a:cs typeface="Tahoma"/>
              </a:rPr>
              <a:t>Rgsponsg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39843" y="4057098"/>
            <a:ext cx="1263650" cy="619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6385">
              <a:lnSpc>
                <a:spcPct val="108100"/>
              </a:lnSpc>
              <a:spcBef>
                <a:spcPts val="95"/>
              </a:spcBef>
            </a:pPr>
            <a:r>
              <a:rPr sz="1800" spc="75" dirty="0">
                <a:solidFill>
                  <a:srgbClr val="BEBEBE"/>
                </a:solidFill>
                <a:latin typeface="Tahoma"/>
                <a:cs typeface="Tahoma"/>
              </a:rPr>
              <a:t>Dglivgí</a:t>
            </a:r>
            <a:r>
              <a:rPr sz="1800" spc="-21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BEBEBE"/>
                </a:solidFill>
                <a:latin typeface="Tahoma"/>
                <a:cs typeface="Tahoma"/>
              </a:rPr>
              <a:t>SSR </a:t>
            </a:r>
            <a:r>
              <a:rPr sz="1800" spc="75" dirty="0">
                <a:solidFill>
                  <a:srgbClr val="BEBEBE"/>
                </a:solidFill>
                <a:latin typeface="Tahoma"/>
                <a:cs typeface="Tahoma"/>
              </a:rPr>
              <a:t>Dí3rts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374" y="5260339"/>
            <a:ext cx="994219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The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agent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retrieves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past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reports,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guidelines,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data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produce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precise,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tailored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outputs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BEBEBE"/>
                </a:solidFill>
                <a:latin typeface="Verdana"/>
                <a:cs typeface="Verdana"/>
              </a:rPr>
              <a:t>streamlining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documentation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reducing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manual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effort.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428625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900"/>
                  </a:moveTo>
                  <a:lnTo>
                    <a:pt x="7143750" y="643890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50" y="0"/>
                  </a:moveTo>
                  <a:lnTo>
                    <a:pt x="0" y="0"/>
                  </a:lnTo>
                  <a:lnTo>
                    <a:pt x="0" y="6438900"/>
                  </a:lnTo>
                  <a:lnTo>
                    <a:pt x="4286250" y="6438900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" y="133349"/>
              <a:ext cx="4114799" cy="617219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873625" y="1311275"/>
            <a:ext cx="3430904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90" dirty="0"/>
              <a:t>Coíg</a:t>
            </a:r>
            <a:r>
              <a:rPr spc="-380" dirty="0"/>
              <a:t> </a:t>
            </a:r>
            <a:r>
              <a:rPr spc="110" dirty="0"/>
              <a:t>C3p3bilitigs</a:t>
            </a:r>
          </a:p>
        </p:txBody>
      </p:sp>
      <p:sp>
        <p:nvSpPr>
          <p:cNvPr id="7" name="object 7"/>
          <p:cNvSpPr/>
          <p:nvPr/>
        </p:nvSpPr>
        <p:spPr>
          <a:xfrm>
            <a:off x="4886325" y="2133599"/>
            <a:ext cx="2886075" cy="1533525"/>
          </a:xfrm>
          <a:custGeom>
            <a:avLst/>
            <a:gdLst/>
            <a:ahLst/>
            <a:cxnLst/>
            <a:rect l="l" t="t" r="r" b="b"/>
            <a:pathLst>
              <a:path w="2886075" h="15335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12100"/>
                </a:lnTo>
                <a:lnTo>
                  <a:pt x="0" y="1514932"/>
                </a:lnTo>
                <a:lnTo>
                  <a:pt x="18592" y="1533525"/>
                </a:lnTo>
                <a:lnTo>
                  <a:pt x="2867482" y="1533525"/>
                </a:lnTo>
                <a:lnTo>
                  <a:pt x="2886075" y="15149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45075" y="2287587"/>
            <a:ext cx="251587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5" dirty="0">
                <a:solidFill>
                  <a:srgbClr val="BEBEBE"/>
                </a:solidFill>
                <a:latin typeface="Tahoma"/>
                <a:cs typeface="Tahoma"/>
              </a:rPr>
              <a:t>SSR</a:t>
            </a:r>
            <a:r>
              <a:rPr sz="1650" spc="-17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BEBEBE"/>
                </a:solidFill>
                <a:latin typeface="Tahoma"/>
                <a:cs typeface="Tahoma"/>
              </a:rPr>
              <a:t>Dí3rt</a:t>
            </a:r>
            <a:r>
              <a:rPr sz="1650" spc="-17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20" dirty="0">
                <a:solidFill>
                  <a:srgbClr val="BEBEBE"/>
                </a:solidFill>
                <a:latin typeface="Tahoma"/>
                <a:cs typeface="Tahoma"/>
              </a:rPr>
              <a:t>“gngí3tion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Auto-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generate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Self-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Assessment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Report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drafts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aligned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NAAC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criteria.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43850" y="2133599"/>
            <a:ext cx="2886075" cy="1533525"/>
          </a:xfrm>
          <a:custGeom>
            <a:avLst/>
            <a:gdLst/>
            <a:ahLst/>
            <a:cxnLst/>
            <a:rect l="l" t="t" r="r" b="b"/>
            <a:pathLst>
              <a:path w="2886075" h="1533525">
                <a:moveTo>
                  <a:pt x="286748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512100"/>
                </a:lnTo>
                <a:lnTo>
                  <a:pt x="0" y="1514932"/>
                </a:lnTo>
                <a:lnTo>
                  <a:pt x="18592" y="1533525"/>
                </a:lnTo>
                <a:lnTo>
                  <a:pt x="2867482" y="1533525"/>
                </a:lnTo>
                <a:lnTo>
                  <a:pt x="2886075" y="1514932"/>
                </a:lnTo>
                <a:lnTo>
                  <a:pt x="2886075" y="18592"/>
                </a:lnTo>
                <a:lnTo>
                  <a:pt x="2870225" y="546"/>
                </a:lnTo>
                <a:lnTo>
                  <a:pt x="286748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02600" y="2287587"/>
            <a:ext cx="233426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5" dirty="0">
                <a:solidFill>
                  <a:srgbClr val="BEBEBE"/>
                </a:solidFill>
                <a:latin typeface="Tahoma"/>
                <a:cs typeface="Tahoma"/>
              </a:rPr>
              <a:t>Cíitgíi3-</a:t>
            </a:r>
            <a:r>
              <a:rPr sz="1650" spc="120" dirty="0">
                <a:solidFill>
                  <a:srgbClr val="BEBEBE"/>
                </a:solidFill>
                <a:latin typeface="Tahoma"/>
                <a:cs typeface="Tahoma"/>
              </a:rPr>
              <a:t>Wisg</a:t>
            </a:r>
            <a:r>
              <a:rPr sz="1650" spc="-15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BEBEBE"/>
                </a:solidFill>
                <a:latin typeface="Tahoma"/>
                <a:cs typeface="Tahoma"/>
              </a:rPr>
              <a:t>Inputs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Provide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structured,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criterion-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specific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guidance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each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parameter.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86325" y="3838575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92" y="1266825"/>
                </a:lnTo>
                <a:lnTo>
                  <a:pt x="5925007" y="1266825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45075" y="3992562"/>
            <a:ext cx="534860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BEBEBE"/>
                </a:solidFill>
                <a:latin typeface="Tahoma"/>
                <a:cs typeface="Tahoma"/>
              </a:rPr>
              <a:t>Bgst</a:t>
            </a:r>
            <a:r>
              <a:rPr sz="1650" spc="-16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10" dirty="0">
                <a:solidFill>
                  <a:srgbClr val="BEBEBE"/>
                </a:solidFill>
                <a:latin typeface="Tahoma"/>
                <a:cs typeface="Tahoma"/>
              </a:rPr>
              <a:t>Pí3cticg</a:t>
            </a:r>
            <a:r>
              <a:rPr sz="1650" spc="-16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BEBEBE"/>
                </a:solidFill>
                <a:latin typeface="Tahoma"/>
                <a:cs typeface="Tahoma"/>
              </a:rPr>
              <a:t>Docs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Document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format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best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practices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with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BEBEBE"/>
                </a:solidFill>
                <a:latin typeface="Verdana"/>
                <a:cs typeface="Verdana"/>
              </a:rPr>
              <a:t>compliance-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ready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structure.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3" name="object 13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029450"/>
          </a:xfrm>
          <a:custGeom>
            <a:avLst/>
            <a:gdLst/>
            <a:ahLst/>
            <a:cxnLst/>
            <a:rect l="l" t="t" r="r" b="b"/>
            <a:pathLst>
              <a:path w="11430000" h="7029450">
                <a:moveTo>
                  <a:pt x="11430000" y="0"/>
                </a:moveTo>
                <a:lnTo>
                  <a:pt x="0" y="0"/>
                </a:lnTo>
                <a:lnTo>
                  <a:pt x="0" y="7029450"/>
                </a:lnTo>
                <a:lnTo>
                  <a:pt x="11430000" y="70294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0" dirty="0"/>
              <a:t>Tíustgd,</a:t>
            </a:r>
            <a:r>
              <a:rPr spc="-370" dirty="0"/>
              <a:t> </a:t>
            </a:r>
            <a:r>
              <a:rPr spc="335" dirty="0"/>
              <a:t>“íoundgd</a:t>
            </a:r>
            <a:r>
              <a:rPr spc="-370" dirty="0"/>
              <a:t> </a:t>
            </a:r>
            <a:r>
              <a:rPr spc="200" dirty="0"/>
              <a:t>Answgís</a:t>
            </a:r>
          </a:p>
        </p:txBody>
      </p:sp>
      <p:sp>
        <p:nvSpPr>
          <p:cNvPr id="4" name="object 4"/>
          <p:cNvSpPr/>
          <p:nvPr/>
        </p:nvSpPr>
        <p:spPr>
          <a:xfrm>
            <a:off x="628650" y="3781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650" y="4114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8650" y="4448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72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2" y="2506662"/>
            <a:ext cx="4848225" cy="2779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0" dirty="0">
                <a:solidFill>
                  <a:srgbClr val="FEFEFE"/>
                </a:solidFill>
                <a:latin typeface="Tahoma"/>
                <a:cs typeface="Tahoma"/>
              </a:rPr>
              <a:t>Souícg-</a:t>
            </a:r>
            <a:r>
              <a:rPr sz="1650" spc="175" dirty="0">
                <a:solidFill>
                  <a:srgbClr val="FEFEFE"/>
                </a:solidFill>
                <a:latin typeface="Tahoma"/>
                <a:cs typeface="Tahoma"/>
              </a:rPr>
              <a:t>“íoundgd</a:t>
            </a:r>
            <a:r>
              <a:rPr sz="1650" spc="-150" dirty="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sz="1650" spc="-10" dirty="0">
                <a:solidFill>
                  <a:srgbClr val="FEFEFE"/>
                </a:solidFill>
                <a:latin typeface="Tahoma"/>
                <a:cs typeface="Tahoma"/>
              </a:rPr>
              <a:t>Intglliggncg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Unlike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generic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45" dirty="0">
                <a:solidFill>
                  <a:srgbClr val="BEBEBE"/>
                </a:solidFill>
                <a:latin typeface="Verdana"/>
                <a:cs typeface="Verdana"/>
              </a:rPr>
              <a:t>AI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chatbots,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this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agent's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responses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are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always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anchored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to:</a:t>
            </a:r>
            <a:endParaRPr sz="1350">
              <a:latin typeface="Verdana"/>
              <a:cs typeface="Verdana"/>
            </a:endParaRPr>
          </a:p>
          <a:p>
            <a:pPr marL="286385" marR="741045">
              <a:lnSpc>
                <a:spcPct val="162000"/>
              </a:lnSpc>
              <a:spcBef>
                <a:spcPts val="750"/>
              </a:spcBef>
            </a:pP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Official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guidelines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criteria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documents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 past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accreditation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reports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Verified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institutional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data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repositories</a:t>
            </a:r>
            <a:endParaRPr sz="1350">
              <a:latin typeface="Verdana"/>
              <a:cs typeface="Verdana"/>
            </a:endParaRPr>
          </a:p>
          <a:p>
            <a:pPr marL="12700" marR="286385">
              <a:lnSpc>
                <a:spcPct val="134300"/>
              </a:lnSpc>
              <a:spcBef>
                <a:spcPts val="1200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This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ensures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BEBEBE"/>
                </a:solidFill>
                <a:latin typeface="Arial Black"/>
                <a:cs typeface="Arial Black"/>
              </a:rPr>
              <a:t>accuracy,</a:t>
            </a:r>
            <a:r>
              <a:rPr sz="1350" spc="-4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95" dirty="0">
                <a:solidFill>
                  <a:srgbClr val="BEBEBE"/>
                </a:solidFill>
                <a:latin typeface="Arial Black"/>
                <a:cs typeface="Arial Black"/>
              </a:rPr>
              <a:t>compliance,</a:t>
            </a:r>
            <a:r>
              <a:rPr sz="1350" spc="-4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Arial Black"/>
                <a:cs typeface="Arial Black"/>
              </a:rPr>
              <a:t>and</a:t>
            </a:r>
            <a:r>
              <a:rPr sz="1350" spc="-4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Arial Black"/>
                <a:cs typeface="Arial Black"/>
              </a:rPr>
              <a:t>auditability</a:t>
            </a:r>
            <a:r>
              <a:rPr sz="1350" spc="-45" dirty="0">
                <a:solidFill>
                  <a:srgbClr val="BEBEBE"/>
                </a:solidFill>
                <a:latin typeface="Arial Black"/>
                <a:cs typeface="Arial Black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at 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every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step.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075" y="1457324"/>
            <a:ext cx="4905374" cy="4905375"/>
          </a:xfrm>
          <a:prstGeom prst="rect">
            <a:avLst/>
          </a:prstGeom>
        </p:spPr>
      </p:pic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5204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999" y="6438899"/>
                </a:moveTo>
                <a:lnTo>
                  <a:pt x="0" y="6438899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38899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87374" y="1701800"/>
            <a:ext cx="55937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0" dirty="0"/>
              <a:t>Impact</a:t>
            </a:r>
            <a:r>
              <a:rPr spc="-370" dirty="0"/>
              <a:t> </a:t>
            </a:r>
            <a:r>
              <a:rPr spc="165" dirty="0"/>
              <a:t>on</a:t>
            </a:r>
            <a:r>
              <a:rPr spc="-365" dirty="0"/>
              <a:t> </a:t>
            </a:r>
            <a:r>
              <a:rPr spc="130" dirty="0"/>
              <a:t>Faculty</a:t>
            </a:r>
            <a:r>
              <a:rPr spc="-365" dirty="0"/>
              <a:t> </a:t>
            </a:r>
            <a:r>
              <a:rPr spc="215" dirty="0"/>
              <a:t>Woíkflow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0578" y="2603277"/>
            <a:ext cx="447675" cy="441959"/>
            <a:chOff x="590578" y="2603277"/>
            <a:chExt cx="447675" cy="441959"/>
          </a:xfrm>
        </p:grpSpPr>
        <p:sp>
          <p:nvSpPr>
            <p:cNvPr id="5" name="object 5"/>
            <p:cNvSpPr/>
            <p:nvPr/>
          </p:nvSpPr>
          <p:spPr>
            <a:xfrm>
              <a:off x="648430" y="2956927"/>
              <a:ext cx="295275" cy="78740"/>
            </a:xfrm>
            <a:custGeom>
              <a:avLst/>
              <a:gdLst/>
              <a:ahLst/>
              <a:cxnLst/>
              <a:rect l="l" t="t" r="r" b="b"/>
              <a:pathLst>
                <a:path w="295275" h="78739">
                  <a:moveTo>
                    <a:pt x="295205" y="35739"/>
                  </a:moveTo>
                  <a:lnTo>
                    <a:pt x="255725" y="58981"/>
                  </a:lnTo>
                  <a:lnTo>
                    <a:pt x="219798" y="71911"/>
                  </a:lnTo>
                  <a:lnTo>
                    <a:pt x="180764" y="78392"/>
                  </a:lnTo>
                  <a:lnTo>
                    <a:pt x="165852" y="78619"/>
                  </a:lnTo>
                  <a:lnTo>
                    <a:pt x="158749" y="78530"/>
                  </a:lnTo>
                  <a:lnTo>
                    <a:pt x="114987" y="72187"/>
                  </a:lnTo>
                  <a:lnTo>
                    <a:pt x="78046" y="59149"/>
                  </a:lnTo>
                  <a:lnTo>
                    <a:pt x="39415" y="36851"/>
                  </a:lnTo>
                  <a:lnTo>
                    <a:pt x="9672" y="10633"/>
                  </a:lnTo>
                  <a:lnTo>
                    <a:pt x="4244" y="4838"/>
                  </a:lnTo>
                  <a:lnTo>
                    <a:pt x="0" y="0"/>
                  </a:lnTo>
                </a:path>
              </a:pathLst>
            </a:custGeom>
            <a:ln w="18992">
              <a:solidFill>
                <a:srgbClr val="F5F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578" y="2603277"/>
              <a:ext cx="447617" cy="398885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53" y="2609849"/>
            <a:ext cx="437962" cy="438033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7553357" y="2656895"/>
            <a:ext cx="447675" cy="334645"/>
            <a:chOff x="7553357" y="2656895"/>
            <a:chExt cx="447675" cy="33464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4035" y="2894709"/>
              <a:ext cx="66068" cy="8270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562849" y="2666387"/>
              <a:ext cx="428625" cy="297180"/>
            </a:xfrm>
            <a:custGeom>
              <a:avLst/>
              <a:gdLst/>
              <a:ahLst/>
              <a:cxnLst/>
              <a:rect l="l" t="t" r="r" b="b"/>
              <a:pathLst>
                <a:path w="428625" h="297180">
                  <a:moveTo>
                    <a:pt x="428624" y="91619"/>
                  </a:moveTo>
                  <a:lnTo>
                    <a:pt x="420141" y="95861"/>
                  </a:lnTo>
                  <a:lnTo>
                    <a:pt x="408494" y="101220"/>
                  </a:lnTo>
                  <a:lnTo>
                    <a:pt x="393684" y="107697"/>
                  </a:lnTo>
                  <a:lnTo>
                    <a:pt x="375710" y="115292"/>
                  </a:lnTo>
                </a:path>
                <a:path w="428625" h="297180">
                  <a:moveTo>
                    <a:pt x="213594" y="182706"/>
                  </a:moveTo>
                  <a:lnTo>
                    <a:pt x="208091" y="183891"/>
                  </a:lnTo>
                  <a:lnTo>
                    <a:pt x="205350" y="183805"/>
                  </a:lnTo>
                  <a:lnTo>
                    <a:pt x="201431" y="183069"/>
                  </a:lnTo>
                  <a:lnTo>
                    <a:pt x="197791" y="181616"/>
                  </a:lnTo>
                  <a:lnTo>
                    <a:pt x="191305" y="178858"/>
                  </a:lnTo>
                  <a:lnTo>
                    <a:pt x="181971" y="174795"/>
                  </a:lnTo>
                  <a:lnTo>
                    <a:pt x="169792" y="169427"/>
                  </a:lnTo>
                </a:path>
                <a:path w="428625" h="297180">
                  <a:moveTo>
                    <a:pt x="92437" y="135449"/>
                  </a:moveTo>
                  <a:lnTo>
                    <a:pt x="83070" y="131390"/>
                  </a:lnTo>
                </a:path>
                <a:path w="428625" h="297180">
                  <a:moveTo>
                    <a:pt x="339703" y="130308"/>
                  </a:moveTo>
                  <a:lnTo>
                    <a:pt x="343653" y="162429"/>
                  </a:lnTo>
                  <a:lnTo>
                    <a:pt x="347877" y="198450"/>
                  </a:lnTo>
                  <a:lnTo>
                    <a:pt x="351229" y="228578"/>
                  </a:lnTo>
                  <a:lnTo>
                    <a:pt x="352563" y="243018"/>
                  </a:lnTo>
                  <a:lnTo>
                    <a:pt x="351850" y="247446"/>
                  </a:lnTo>
                  <a:lnTo>
                    <a:pt x="350389" y="251833"/>
                  </a:lnTo>
                  <a:lnTo>
                    <a:pt x="347989" y="256282"/>
                  </a:lnTo>
                </a:path>
                <a:path w="428625" h="297180">
                  <a:moveTo>
                    <a:pt x="428624" y="91619"/>
                  </a:moveTo>
                  <a:lnTo>
                    <a:pt x="420632" y="87376"/>
                  </a:lnTo>
                  <a:lnTo>
                    <a:pt x="409114" y="81753"/>
                  </a:lnTo>
                  <a:lnTo>
                    <a:pt x="394070" y="74751"/>
                  </a:lnTo>
                  <a:lnTo>
                    <a:pt x="375500" y="66368"/>
                  </a:lnTo>
                </a:path>
                <a:path w="428625" h="297180">
                  <a:moveTo>
                    <a:pt x="229262" y="2176"/>
                  </a:moveTo>
                  <a:lnTo>
                    <a:pt x="223172" y="114"/>
                  </a:lnTo>
                  <a:lnTo>
                    <a:pt x="220698" y="0"/>
                  </a:lnTo>
                  <a:lnTo>
                    <a:pt x="217921" y="381"/>
                  </a:lnTo>
                  <a:lnTo>
                    <a:pt x="214362" y="1649"/>
                  </a:lnTo>
                  <a:lnTo>
                    <a:pt x="208712" y="3834"/>
                  </a:lnTo>
                  <a:lnTo>
                    <a:pt x="200971" y="6936"/>
                  </a:lnTo>
                  <a:lnTo>
                    <a:pt x="191138" y="10956"/>
                  </a:lnTo>
                </a:path>
                <a:path w="428625" h="297180">
                  <a:moveTo>
                    <a:pt x="9429" y="85779"/>
                  </a:moveTo>
                  <a:lnTo>
                    <a:pt x="7703" y="86617"/>
                  </a:lnTo>
                  <a:lnTo>
                    <a:pt x="4559" y="88502"/>
                  </a:lnTo>
                  <a:lnTo>
                    <a:pt x="0" y="91434"/>
                  </a:lnTo>
                </a:path>
                <a:path w="428625" h="297180">
                  <a:moveTo>
                    <a:pt x="347989" y="256282"/>
                  </a:moveTo>
                  <a:lnTo>
                    <a:pt x="312961" y="280370"/>
                  </a:lnTo>
                  <a:lnTo>
                    <a:pt x="272243" y="292297"/>
                  </a:lnTo>
                  <a:lnTo>
                    <a:pt x="226965" y="296523"/>
                  </a:lnTo>
                  <a:lnTo>
                    <a:pt x="216588" y="296582"/>
                  </a:lnTo>
                  <a:lnTo>
                    <a:pt x="206624" y="296486"/>
                  </a:lnTo>
                  <a:lnTo>
                    <a:pt x="160436" y="291809"/>
                  </a:lnTo>
                  <a:lnTo>
                    <a:pt x="117251" y="279227"/>
                  </a:lnTo>
                  <a:lnTo>
                    <a:pt x="83793" y="260288"/>
                  </a:lnTo>
                  <a:lnTo>
                    <a:pt x="71086" y="235589"/>
                  </a:lnTo>
                  <a:lnTo>
                    <a:pt x="71142" y="232036"/>
                  </a:lnTo>
                  <a:lnTo>
                    <a:pt x="71474" y="227770"/>
                  </a:lnTo>
                </a:path>
              </a:pathLst>
            </a:custGeom>
            <a:ln w="18984">
              <a:solidFill>
                <a:srgbClr val="F5F5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53357" y="2659072"/>
              <a:ext cx="394694" cy="3321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87374" y="3230562"/>
            <a:ext cx="3069590" cy="14554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255270">
              <a:lnSpc>
                <a:spcPct val="106100"/>
              </a:lnSpc>
              <a:spcBef>
                <a:spcPts val="15"/>
              </a:spcBef>
            </a:pPr>
            <a:r>
              <a:rPr sz="1650" spc="90" dirty="0">
                <a:solidFill>
                  <a:srgbClr val="BEBEBE"/>
                </a:solidFill>
                <a:latin typeface="Tahoma"/>
                <a:cs typeface="Tahoma"/>
              </a:rPr>
              <a:t>Reduced</a:t>
            </a:r>
            <a:r>
              <a:rPr sz="1650" spc="-1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05" dirty="0">
                <a:solidFill>
                  <a:srgbClr val="BEBEBE"/>
                </a:solidFill>
                <a:latin typeface="Tahoma"/>
                <a:cs typeface="Tahoma"/>
              </a:rPr>
              <a:t>Time</a:t>
            </a:r>
            <a:r>
              <a:rPr sz="1650" spc="-1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90" dirty="0">
                <a:solidFill>
                  <a:srgbClr val="BEBEBE"/>
                </a:solidFill>
                <a:latin typeface="Tahoma"/>
                <a:cs typeface="Tahoma"/>
              </a:rPr>
              <a:t>on</a:t>
            </a:r>
            <a:r>
              <a:rPr sz="1650" spc="-16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60" dirty="0">
                <a:solidFill>
                  <a:srgbClr val="BEBEBE"/>
                </a:solidFill>
                <a:latin typeface="Tahoma"/>
                <a:cs typeface="Tahoma"/>
              </a:rPr>
              <a:t>Repetitive </a:t>
            </a:r>
            <a:r>
              <a:rPr sz="1650" spc="-10" dirty="0">
                <a:solidFill>
                  <a:srgbClr val="BEBEBE"/>
                </a:solidFill>
                <a:latin typeface="Tahoma"/>
                <a:cs typeface="Tahoma"/>
              </a:rPr>
              <a:t>Tasks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Automates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documentation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 workflows,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freeing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faculty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focus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BEBEBE"/>
                </a:solidFill>
                <a:latin typeface="Verdana"/>
                <a:cs typeface="Verdana"/>
              </a:rPr>
              <a:t>on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quality improvement.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8762" y="3230562"/>
            <a:ext cx="319595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00" dirty="0">
                <a:solidFill>
                  <a:srgbClr val="BEBEBE"/>
                </a:solidFill>
                <a:latin typeface="Tahoma"/>
                <a:cs typeface="Tahoma"/>
              </a:rPr>
              <a:t>Enhanced</a:t>
            </a:r>
            <a:r>
              <a:rPr sz="1650" spc="-17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14" dirty="0">
                <a:solidFill>
                  <a:srgbClr val="BEBEBE"/>
                </a:solidFill>
                <a:latin typeface="Tahoma"/>
                <a:cs typeface="Tahoma"/>
              </a:rPr>
              <a:t>Accuíacy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Context-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aware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responses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reduce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BEBEBE"/>
                </a:solidFill>
                <a:latin typeface="Verdana"/>
                <a:cs typeface="Verdana"/>
              </a:rPr>
              <a:t>errors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ensure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compliance.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0150" y="3230562"/>
            <a:ext cx="308356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0" dirty="0">
                <a:solidFill>
                  <a:srgbClr val="BEBEBE"/>
                </a:solidFill>
                <a:latin typeface="Tahoma"/>
                <a:cs typeface="Tahoma"/>
              </a:rPr>
              <a:t>Empoweíed</a:t>
            </a:r>
            <a:r>
              <a:rPr sz="1650" spc="-15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BEBEBE"/>
                </a:solidFill>
                <a:latin typeface="Tahoma"/>
                <a:cs typeface="Tahoma"/>
              </a:rPr>
              <a:t>Faculty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Faculty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gain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confident,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guided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BEBEBE"/>
                </a:solidFill>
                <a:latin typeface="Verdana"/>
                <a:cs typeface="Verdana"/>
              </a:rPr>
              <a:t>support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throughout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the accreditation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journey.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5" name="object 15">
            <a:hlinkClick r:id="rId6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428625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900"/>
                  </a:moveTo>
                  <a:lnTo>
                    <a:pt x="7143750" y="643890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50" y="0"/>
                  </a:moveTo>
                  <a:lnTo>
                    <a:pt x="0" y="0"/>
                  </a:lnTo>
                  <a:lnTo>
                    <a:pt x="0" y="6438900"/>
                  </a:lnTo>
                  <a:lnTo>
                    <a:pt x="4286250" y="6438900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" y="133349"/>
              <a:ext cx="4114799" cy="617219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135" dirty="0"/>
              <a:t>Technology</a:t>
            </a:r>
            <a:r>
              <a:rPr spc="-340" dirty="0"/>
              <a:t> </a:t>
            </a:r>
            <a:r>
              <a:rPr spc="165" dirty="0"/>
              <a:t>Stack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886325" y="1514474"/>
            <a:ext cx="5943600" cy="1304925"/>
            <a:chOff x="4886325" y="1514474"/>
            <a:chExt cx="5943600" cy="1304925"/>
          </a:xfrm>
        </p:grpSpPr>
        <p:sp>
          <p:nvSpPr>
            <p:cNvPr id="8" name="object 8"/>
            <p:cNvSpPr/>
            <p:nvPr/>
          </p:nvSpPr>
          <p:spPr>
            <a:xfrm>
              <a:off x="4895850" y="1523999"/>
              <a:ext cx="5924550" cy="1285875"/>
            </a:xfrm>
            <a:custGeom>
              <a:avLst/>
              <a:gdLst/>
              <a:ahLst/>
              <a:cxnLst/>
              <a:rect l="l" t="t" r="r" b="b"/>
              <a:pathLst>
                <a:path w="5924550" h="1285875">
                  <a:moveTo>
                    <a:pt x="5915926" y="0"/>
                  </a:moveTo>
                  <a:lnTo>
                    <a:pt x="62293" y="0"/>
                  </a:lnTo>
                  <a:lnTo>
                    <a:pt x="57962" y="431"/>
                  </a:lnTo>
                  <a:lnTo>
                    <a:pt x="22618" y="16433"/>
                  </a:lnTo>
                  <a:lnTo>
                    <a:pt x="2133" y="49377"/>
                  </a:lnTo>
                  <a:lnTo>
                    <a:pt x="0" y="62293"/>
                  </a:lnTo>
                  <a:lnTo>
                    <a:pt x="0" y="1219200"/>
                  </a:lnTo>
                  <a:lnTo>
                    <a:pt x="0" y="1223581"/>
                  </a:lnTo>
                  <a:lnTo>
                    <a:pt x="13665" y="1259878"/>
                  </a:lnTo>
                  <a:lnTo>
                    <a:pt x="45199" y="1282471"/>
                  </a:lnTo>
                  <a:lnTo>
                    <a:pt x="62293" y="1285875"/>
                  </a:lnTo>
                  <a:lnTo>
                    <a:pt x="5915926" y="1285875"/>
                  </a:lnTo>
                  <a:lnTo>
                    <a:pt x="5918733" y="1284706"/>
                  </a:lnTo>
                  <a:lnTo>
                    <a:pt x="5923381" y="1280058"/>
                  </a:lnTo>
                  <a:lnTo>
                    <a:pt x="5924550" y="1277251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95850" y="1523999"/>
              <a:ext cx="5924550" cy="1285875"/>
            </a:xfrm>
            <a:custGeom>
              <a:avLst/>
              <a:gdLst/>
              <a:ahLst/>
              <a:cxnLst/>
              <a:rect l="l" t="t" r="r" b="b"/>
              <a:pathLst>
                <a:path w="5924550" h="1285875">
                  <a:moveTo>
                    <a:pt x="0" y="1219200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31" y="57962"/>
                  </a:lnTo>
                  <a:lnTo>
                    <a:pt x="1282" y="53670"/>
                  </a:lnTo>
                  <a:lnTo>
                    <a:pt x="2133" y="49377"/>
                  </a:lnTo>
                  <a:lnTo>
                    <a:pt x="3403" y="45199"/>
                  </a:lnTo>
                  <a:lnTo>
                    <a:pt x="5080" y="41160"/>
                  </a:lnTo>
                  <a:lnTo>
                    <a:pt x="6756" y="37109"/>
                  </a:lnTo>
                  <a:lnTo>
                    <a:pt x="8801" y="33274"/>
                  </a:lnTo>
                  <a:lnTo>
                    <a:pt x="11239" y="29629"/>
                  </a:lnTo>
                  <a:lnTo>
                    <a:pt x="13665" y="25996"/>
                  </a:lnTo>
                  <a:lnTo>
                    <a:pt x="16433" y="22618"/>
                  </a:lnTo>
                  <a:lnTo>
                    <a:pt x="19532" y="19532"/>
                  </a:lnTo>
                  <a:lnTo>
                    <a:pt x="22618" y="16433"/>
                  </a:lnTo>
                  <a:lnTo>
                    <a:pt x="25984" y="13665"/>
                  </a:lnTo>
                  <a:lnTo>
                    <a:pt x="29629" y="11239"/>
                  </a:lnTo>
                  <a:lnTo>
                    <a:pt x="33274" y="8801"/>
                  </a:lnTo>
                  <a:lnTo>
                    <a:pt x="37109" y="6743"/>
                  </a:lnTo>
                  <a:lnTo>
                    <a:pt x="41160" y="5080"/>
                  </a:lnTo>
                  <a:lnTo>
                    <a:pt x="45199" y="3403"/>
                  </a:lnTo>
                  <a:lnTo>
                    <a:pt x="49377" y="2133"/>
                  </a:lnTo>
                  <a:lnTo>
                    <a:pt x="53670" y="1282"/>
                  </a:lnTo>
                  <a:lnTo>
                    <a:pt x="57962" y="431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1273975"/>
                  </a:lnTo>
                  <a:lnTo>
                    <a:pt x="5924550" y="1277251"/>
                  </a:lnTo>
                  <a:lnTo>
                    <a:pt x="5923381" y="1280058"/>
                  </a:lnTo>
                  <a:lnTo>
                    <a:pt x="5921057" y="1282382"/>
                  </a:lnTo>
                  <a:lnTo>
                    <a:pt x="5918733" y="1284706"/>
                  </a:lnTo>
                  <a:lnTo>
                    <a:pt x="5915926" y="1285875"/>
                  </a:lnTo>
                  <a:lnTo>
                    <a:pt x="5912650" y="1285875"/>
                  </a:lnTo>
                  <a:lnTo>
                    <a:pt x="66675" y="1285875"/>
                  </a:lnTo>
                  <a:lnTo>
                    <a:pt x="62293" y="1285875"/>
                  </a:lnTo>
                  <a:lnTo>
                    <a:pt x="57962" y="1285443"/>
                  </a:lnTo>
                  <a:lnTo>
                    <a:pt x="53670" y="1284592"/>
                  </a:lnTo>
                  <a:lnTo>
                    <a:pt x="49377" y="1283741"/>
                  </a:lnTo>
                  <a:lnTo>
                    <a:pt x="45199" y="1282471"/>
                  </a:lnTo>
                  <a:lnTo>
                    <a:pt x="41160" y="1280795"/>
                  </a:lnTo>
                  <a:lnTo>
                    <a:pt x="37109" y="1279118"/>
                  </a:lnTo>
                  <a:lnTo>
                    <a:pt x="33274" y="1277073"/>
                  </a:lnTo>
                  <a:lnTo>
                    <a:pt x="29629" y="1274635"/>
                  </a:lnTo>
                  <a:lnTo>
                    <a:pt x="25984" y="1272209"/>
                  </a:lnTo>
                  <a:lnTo>
                    <a:pt x="22618" y="1269441"/>
                  </a:lnTo>
                  <a:lnTo>
                    <a:pt x="19532" y="1266342"/>
                  </a:lnTo>
                  <a:lnTo>
                    <a:pt x="16433" y="1263243"/>
                  </a:lnTo>
                  <a:lnTo>
                    <a:pt x="13665" y="1259878"/>
                  </a:lnTo>
                  <a:lnTo>
                    <a:pt x="11239" y="1256245"/>
                  </a:lnTo>
                  <a:lnTo>
                    <a:pt x="8801" y="1252601"/>
                  </a:lnTo>
                  <a:lnTo>
                    <a:pt x="6756" y="1248752"/>
                  </a:lnTo>
                  <a:lnTo>
                    <a:pt x="5080" y="1244714"/>
                  </a:lnTo>
                  <a:lnTo>
                    <a:pt x="3403" y="1240675"/>
                  </a:lnTo>
                  <a:lnTo>
                    <a:pt x="2133" y="1236497"/>
                  </a:lnTo>
                  <a:lnTo>
                    <a:pt x="1282" y="1232204"/>
                  </a:lnTo>
                  <a:lnTo>
                    <a:pt x="431" y="1227912"/>
                  </a:lnTo>
                  <a:lnTo>
                    <a:pt x="0" y="1223581"/>
                  </a:lnTo>
                  <a:lnTo>
                    <a:pt x="0" y="1219200"/>
                  </a:lnTo>
                  <a:close/>
                </a:path>
              </a:pathLst>
            </a:custGeom>
            <a:ln w="19050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40325" y="1687512"/>
            <a:ext cx="537273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BEBEBE"/>
                </a:solidFill>
                <a:latin typeface="Tahoma"/>
                <a:cs typeface="Tahoma"/>
              </a:rPr>
              <a:t>IBM</a:t>
            </a:r>
            <a:r>
              <a:rPr sz="1650" spc="-1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14" dirty="0">
                <a:solidFill>
                  <a:srgbClr val="BEBEBE"/>
                </a:solidFill>
                <a:latin typeface="Tahoma"/>
                <a:cs typeface="Tahoma"/>
              </a:rPr>
              <a:t>Cloud</a:t>
            </a:r>
            <a:r>
              <a:rPr sz="1650" spc="-1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65" dirty="0">
                <a:solidFill>
                  <a:srgbClr val="BEBEBE"/>
                </a:solidFill>
                <a:latin typeface="Tahoma"/>
                <a:cs typeface="Tahoma"/>
              </a:rPr>
              <a:t>Ḻitg</a:t>
            </a:r>
            <a:r>
              <a:rPr sz="1650" spc="-1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85" dirty="0">
                <a:solidFill>
                  <a:srgbClr val="BEBEBE"/>
                </a:solidFill>
                <a:latin typeface="Tahoma"/>
                <a:cs typeface="Tahoma"/>
              </a:rPr>
              <a:t>Sgívicgs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Scalable,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enterprise-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grade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BEBEBE"/>
                </a:solidFill>
                <a:latin typeface="Verdana"/>
                <a:cs typeface="Verdana"/>
              </a:rPr>
              <a:t>cloud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infrastructure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deployment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and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data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management.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86325" y="2990849"/>
            <a:ext cx="5943600" cy="1571625"/>
            <a:chOff x="4886325" y="2990849"/>
            <a:chExt cx="5943600" cy="1571625"/>
          </a:xfrm>
        </p:grpSpPr>
        <p:sp>
          <p:nvSpPr>
            <p:cNvPr id="12" name="object 12"/>
            <p:cNvSpPr/>
            <p:nvPr/>
          </p:nvSpPr>
          <p:spPr>
            <a:xfrm>
              <a:off x="4895850" y="3000374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5915926" y="0"/>
                  </a:moveTo>
                  <a:lnTo>
                    <a:pt x="62293" y="0"/>
                  </a:lnTo>
                  <a:lnTo>
                    <a:pt x="57962" y="431"/>
                  </a:lnTo>
                  <a:lnTo>
                    <a:pt x="22618" y="16433"/>
                  </a:lnTo>
                  <a:lnTo>
                    <a:pt x="2133" y="49377"/>
                  </a:lnTo>
                  <a:lnTo>
                    <a:pt x="0" y="62293"/>
                  </a:lnTo>
                  <a:lnTo>
                    <a:pt x="0" y="1485900"/>
                  </a:lnTo>
                  <a:lnTo>
                    <a:pt x="0" y="1490281"/>
                  </a:lnTo>
                  <a:lnTo>
                    <a:pt x="13665" y="1526578"/>
                  </a:lnTo>
                  <a:lnTo>
                    <a:pt x="45199" y="1549171"/>
                  </a:lnTo>
                  <a:lnTo>
                    <a:pt x="62293" y="1552575"/>
                  </a:lnTo>
                  <a:lnTo>
                    <a:pt x="5915926" y="1552575"/>
                  </a:lnTo>
                  <a:lnTo>
                    <a:pt x="5918733" y="1551406"/>
                  </a:lnTo>
                  <a:lnTo>
                    <a:pt x="5923381" y="1546758"/>
                  </a:lnTo>
                  <a:lnTo>
                    <a:pt x="5924550" y="1543951"/>
                  </a:lnTo>
                  <a:lnTo>
                    <a:pt x="5924550" y="8623"/>
                  </a:lnTo>
                  <a:lnTo>
                    <a:pt x="5923381" y="5803"/>
                  </a:lnTo>
                  <a:lnTo>
                    <a:pt x="5918733" y="1155"/>
                  </a:lnTo>
                  <a:lnTo>
                    <a:pt x="5915926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95850" y="3000374"/>
              <a:ext cx="5924550" cy="1552575"/>
            </a:xfrm>
            <a:custGeom>
              <a:avLst/>
              <a:gdLst/>
              <a:ahLst/>
              <a:cxnLst/>
              <a:rect l="l" t="t" r="r" b="b"/>
              <a:pathLst>
                <a:path w="5924550" h="1552575">
                  <a:moveTo>
                    <a:pt x="0" y="1485900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31" y="57962"/>
                  </a:lnTo>
                  <a:lnTo>
                    <a:pt x="1282" y="53670"/>
                  </a:lnTo>
                  <a:lnTo>
                    <a:pt x="2133" y="49377"/>
                  </a:lnTo>
                  <a:lnTo>
                    <a:pt x="3403" y="45199"/>
                  </a:lnTo>
                  <a:lnTo>
                    <a:pt x="5080" y="41160"/>
                  </a:lnTo>
                  <a:lnTo>
                    <a:pt x="6756" y="37109"/>
                  </a:lnTo>
                  <a:lnTo>
                    <a:pt x="8801" y="33274"/>
                  </a:lnTo>
                  <a:lnTo>
                    <a:pt x="11239" y="29629"/>
                  </a:lnTo>
                  <a:lnTo>
                    <a:pt x="13665" y="25996"/>
                  </a:lnTo>
                  <a:lnTo>
                    <a:pt x="16433" y="22618"/>
                  </a:lnTo>
                  <a:lnTo>
                    <a:pt x="19532" y="19532"/>
                  </a:lnTo>
                  <a:lnTo>
                    <a:pt x="22618" y="16433"/>
                  </a:lnTo>
                  <a:lnTo>
                    <a:pt x="25984" y="13665"/>
                  </a:lnTo>
                  <a:lnTo>
                    <a:pt x="29629" y="11239"/>
                  </a:lnTo>
                  <a:lnTo>
                    <a:pt x="33274" y="8801"/>
                  </a:lnTo>
                  <a:lnTo>
                    <a:pt x="37109" y="6743"/>
                  </a:lnTo>
                  <a:lnTo>
                    <a:pt x="41160" y="5080"/>
                  </a:lnTo>
                  <a:lnTo>
                    <a:pt x="45199" y="3403"/>
                  </a:lnTo>
                  <a:lnTo>
                    <a:pt x="49377" y="2133"/>
                  </a:lnTo>
                  <a:lnTo>
                    <a:pt x="53670" y="1282"/>
                  </a:lnTo>
                  <a:lnTo>
                    <a:pt x="57962" y="431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5912650" y="0"/>
                  </a:lnTo>
                  <a:lnTo>
                    <a:pt x="5915926" y="0"/>
                  </a:lnTo>
                  <a:lnTo>
                    <a:pt x="5918733" y="1155"/>
                  </a:lnTo>
                  <a:lnTo>
                    <a:pt x="5921057" y="3492"/>
                  </a:lnTo>
                  <a:lnTo>
                    <a:pt x="5923381" y="5803"/>
                  </a:lnTo>
                  <a:lnTo>
                    <a:pt x="5924550" y="8623"/>
                  </a:lnTo>
                  <a:lnTo>
                    <a:pt x="5924550" y="11912"/>
                  </a:lnTo>
                  <a:lnTo>
                    <a:pt x="5924550" y="1540675"/>
                  </a:lnTo>
                  <a:lnTo>
                    <a:pt x="5924550" y="1543951"/>
                  </a:lnTo>
                  <a:lnTo>
                    <a:pt x="5923381" y="1546758"/>
                  </a:lnTo>
                  <a:lnTo>
                    <a:pt x="5921057" y="1549082"/>
                  </a:lnTo>
                  <a:lnTo>
                    <a:pt x="5918733" y="1551406"/>
                  </a:lnTo>
                  <a:lnTo>
                    <a:pt x="5915926" y="1552575"/>
                  </a:lnTo>
                  <a:lnTo>
                    <a:pt x="5912650" y="1552575"/>
                  </a:lnTo>
                  <a:lnTo>
                    <a:pt x="66675" y="1552575"/>
                  </a:lnTo>
                  <a:lnTo>
                    <a:pt x="62293" y="1552575"/>
                  </a:lnTo>
                  <a:lnTo>
                    <a:pt x="57962" y="1552143"/>
                  </a:lnTo>
                  <a:lnTo>
                    <a:pt x="53670" y="1551292"/>
                  </a:lnTo>
                  <a:lnTo>
                    <a:pt x="49377" y="1550441"/>
                  </a:lnTo>
                  <a:lnTo>
                    <a:pt x="45199" y="1549171"/>
                  </a:lnTo>
                  <a:lnTo>
                    <a:pt x="41160" y="1547495"/>
                  </a:lnTo>
                  <a:lnTo>
                    <a:pt x="37109" y="1545818"/>
                  </a:lnTo>
                  <a:lnTo>
                    <a:pt x="33274" y="1543773"/>
                  </a:lnTo>
                  <a:lnTo>
                    <a:pt x="29629" y="1541335"/>
                  </a:lnTo>
                  <a:lnTo>
                    <a:pt x="25984" y="1538909"/>
                  </a:lnTo>
                  <a:lnTo>
                    <a:pt x="22618" y="1536141"/>
                  </a:lnTo>
                  <a:lnTo>
                    <a:pt x="19532" y="1533042"/>
                  </a:lnTo>
                  <a:lnTo>
                    <a:pt x="16433" y="1529943"/>
                  </a:lnTo>
                  <a:lnTo>
                    <a:pt x="13665" y="1526578"/>
                  </a:lnTo>
                  <a:lnTo>
                    <a:pt x="11239" y="1522933"/>
                  </a:lnTo>
                  <a:lnTo>
                    <a:pt x="8801" y="1519301"/>
                  </a:lnTo>
                  <a:lnTo>
                    <a:pt x="6756" y="1515452"/>
                  </a:lnTo>
                  <a:lnTo>
                    <a:pt x="5080" y="1511414"/>
                  </a:lnTo>
                  <a:lnTo>
                    <a:pt x="3403" y="1507375"/>
                  </a:lnTo>
                  <a:lnTo>
                    <a:pt x="2133" y="1503197"/>
                  </a:lnTo>
                  <a:lnTo>
                    <a:pt x="1282" y="1498904"/>
                  </a:lnTo>
                  <a:lnTo>
                    <a:pt x="431" y="1494612"/>
                  </a:lnTo>
                  <a:lnTo>
                    <a:pt x="0" y="1490281"/>
                  </a:lnTo>
                  <a:lnTo>
                    <a:pt x="0" y="1485900"/>
                  </a:lnTo>
                  <a:close/>
                </a:path>
              </a:pathLst>
            </a:custGeom>
            <a:ln w="19050">
              <a:solidFill>
                <a:srgbClr val="575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40325" y="3163887"/>
            <a:ext cx="536702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BEBEBE"/>
                </a:solidFill>
                <a:latin typeface="Tahoma"/>
                <a:cs typeface="Tahoma"/>
              </a:rPr>
              <a:t>IBM</a:t>
            </a:r>
            <a:r>
              <a:rPr sz="1650" spc="-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50" dirty="0">
                <a:solidFill>
                  <a:srgbClr val="BEBEBE"/>
                </a:solidFill>
                <a:latin typeface="Tahoma"/>
                <a:cs typeface="Tahoma"/>
              </a:rPr>
              <a:t>“í3nitg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655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IBM's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purpose-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built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foundation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model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enterprise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45" dirty="0">
                <a:solidFill>
                  <a:srgbClr val="BEBEBE"/>
                </a:solidFill>
                <a:latin typeface="Verdana"/>
                <a:cs typeface="Verdana"/>
              </a:rPr>
              <a:t>AI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ensuring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security,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reliability,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domain-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specific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performance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the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RAG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pipeline.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6325" y="4752975"/>
            <a:ext cx="5943600" cy="962025"/>
            <a:chOff x="4886325" y="4752975"/>
            <a:chExt cx="5943600" cy="962025"/>
          </a:xfrm>
        </p:grpSpPr>
        <p:sp>
          <p:nvSpPr>
            <p:cNvPr id="16" name="object 16"/>
            <p:cNvSpPr/>
            <p:nvPr/>
          </p:nvSpPr>
          <p:spPr>
            <a:xfrm>
              <a:off x="4886325" y="4752975"/>
              <a:ext cx="5943600" cy="962025"/>
            </a:xfrm>
            <a:custGeom>
              <a:avLst/>
              <a:gdLst/>
              <a:ahLst/>
              <a:cxnLst/>
              <a:rect l="l" t="t" r="r" b="b"/>
              <a:pathLst>
                <a:path w="5943600" h="962025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940595"/>
                  </a:lnTo>
                  <a:lnTo>
                    <a:pt x="0" y="943432"/>
                  </a:lnTo>
                  <a:lnTo>
                    <a:pt x="18592" y="962021"/>
                  </a:lnTo>
                  <a:lnTo>
                    <a:pt x="5925007" y="962021"/>
                  </a:lnTo>
                  <a:lnTo>
                    <a:pt x="5943600" y="943432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7979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9918" y="5001818"/>
              <a:ext cx="150025" cy="15001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430837" y="4917441"/>
            <a:ext cx="498792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50" dirty="0">
                <a:solidFill>
                  <a:srgbClr val="FFFFFF"/>
                </a:solidFill>
                <a:latin typeface="Arial Black"/>
                <a:cs typeface="Arial Black"/>
              </a:rPr>
              <a:t>Mandatory</a:t>
            </a:r>
            <a:r>
              <a:rPr sz="135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70" dirty="0">
                <a:solidFill>
                  <a:srgbClr val="FFFFFF"/>
                </a:solidFill>
                <a:latin typeface="Arial Black"/>
                <a:cs typeface="Arial Black"/>
              </a:rPr>
              <a:t>Requirement:</a:t>
            </a:r>
            <a:r>
              <a:rPr sz="135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13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3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FFFFFF"/>
                </a:solidFill>
                <a:latin typeface="Verdana"/>
                <a:cs typeface="Verdana"/>
              </a:rPr>
              <a:t>IBM</a:t>
            </a:r>
            <a:r>
              <a:rPr sz="135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Verdana"/>
                <a:cs typeface="Verdana"/>
              </a:rPr>
              <a:t>Cloud</a:t>
            </a:r>
            <a:r>
              <a:rPr sz="13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Verdana"/>
                <a:cs typeface="Verdana"/>
              </a:rPr>
              <a:t>Lite</a:t>
            </a:r>
            <a:r>
              <a:rPr sz="1350" spc="-80" dirty="0">
                <a:solidFill>
                  <a:srgbClr val="FFFFFF"/>
                </a:solidFill>
                <a:latin typeface="Verdana"/>
                <a:cs typeface="Verdana"/>
              </a:rPr>
              <a:t> Services</a:t>
            </a:r>
            <a:r>
              <a:rPr sz="135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FFFFFF"/>
                </a:solidFill>
                <a:latin typeface="Verdana"/>
                <a:cs typeface="Verdana"/>
              </a:rPr>
              <a:t>IBM</a:t>
            </a:r>
            <a:r>
              <a:rPr sz="13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Verdana"/>
                <a:cs typeface="Verdana"/>
              </a:rPr>
              <a:t>Granite</a:t>
            </a:r>
            <a:r>
              <a:rPr sz="13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3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Verdana"/>
                <a:cs typeface="Verdana"/>
              </a:rPr>
              <a:t>required</a:t>
            </a:r>
            <a:r>
              <a:rPr sz="135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3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135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Verdana"/>
                <a:cs typeface="Verdana"/>
              </a:rPr>
              <a:t>solution.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86325" y="1514474"/>
            <a:ext cx="6448425" cy="4831080"/>
            <a:chOff x="4886325" y="1514474"/>
            <a:chExt cx="6448425" cy="4831080"/>
          </a:xfrm>
        </p:grpSpPr>
        <p:sp>
          <p:nvSpPr>
            <p:cNvPr id="20" name="object 20"/>
            <p:cNvSpPr/>
            <p:nvPr/>
          </p:nvSpPr>
          <p:spPr>
            <a:xfrm>
              <a:off x="4886325" y="1514474"/>
              <a:ext cx="76200" cy="3048000"/>
            </a:xfrm>
            <a:custGeom>
              <a:avLst/>
              <a:gdLst/>
              <a:ahLst/>
              <a:cxnLst/>
              <a:rect l="l" t="t" r="r" b="b"/>
              <a:pathLst>
                <a:path w="76200" h="3048000">
                  <a:moveTo>
                    <a:pt x="76200" y="1476375"/>
                  </a:moveTo>
                  <a:lnTo>
                    <a:pt x="18592" y="1476375"/>
                  </a:lnTo>
                  <a:lnTo>
                    <a:pt x="15849" y="1476921"/>
                  </a:lnTo>
                  <a:lnTo>
                    <a:pt x="0" y="1494967"/>
                  </a:lnTo>
                  <a:lnTo>
                    <a:pt x="0" y="3026575"/>
                  </a:lnTo>
                  <a:lnTo>
                    <a:pt x="0" y="3029407"/>
                  </a:lnTo>
                  <a:lnTo>
                    <a:pt x="18592" y="3048000"/>
                  </a:lnTo>
                  <a:lnTo>
                    <a:pt x="76200" y="3048000"/>
                  </a:lnTo>
                  <a:lnTo>
                    <a:pt x="76200" y="1476375"/>
                  </a:lnTo>
                  <a:close/>
                </a:path>
                <a:path w="76200" h="3048000">
                  <a:moveTo>
                    <a:pt x="76200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283500"/>
                  </a:lnTo>
                  <a:lnTo>
                    <a:pt x="0" y="1286332"/>
                  </a:lnTo>
                  <a:lnTo>
                    <a:pt x="18592" y="1304925"/>
                  </a:lnTo>
                  <a:lnTo>
                    <a:pt x="76200" y="130492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5F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48525"/>
          </a:xfrm>
          <a:custGeom>
            <a:avLst/>
            <a:gdLst/>
            <a:ahLst/>
            <a:cxnLst/>
            <a:rect l="l" t="t" r="r" b="b"/>
            <a:pathLst>
              <a:path w="11430000" h="7248525">
                <a:moveTo>
                  <a:pt x="11429999" y="7248524"/>
                </a:moveTo>
                <a:lnTo>
                  <a:pt x="0" y="724852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72485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220" dirty="0"/>
              <a:t>End-</a:t>
            </a:r>
            <a:r>
              <a:rPr spc="229" dirty="0"/>
              <a:t>to-</a:t>
            </a:r>
            <a:r>
              <a:rPr spc="210" dirty="0"/>
              <a:t>End</a:t>
            </a:r>
            <a:r>
              <a:rPr spc="-380" dirty="0"/>
              <a:t> </a:t>
            </a:r>
            <a:r>
              <a:rPr spc="235" dirty="0"/>
              <a:t>Aíckitgctuíg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9686" y="1769916"/>
            <a:ext cx="4606399" cy="406328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80803" y="1813790"/>
            <a:ext cx="2190115" cy="95059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BEBEBE"/>
                </a:solidFill>
                <a:latin typeface="Tahoma"/>
                <a:cs typeface="Tahoma"/>
              </a:rPr>
              <a:t>F3cultQ</a:t>
            </a:r>
            <a:r>
              <a:rPr sz="1750" spc="-6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750" spc="40" dirty="0">
                <a:solidFill>
                  <a:srgbClr val="BEBEBE"/>
                </a:solidFill>
                <a:latin typeface="Tahoma"/>
                <a:cs typeface="Tahoma"/>
              </a:rPr>
              <a:t>Intgír3cg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725"/>
              </a:spcBef>
            </a:pPr>
            <a:r>
              <a:rPr sz="1400" spc="-160" dirty="0">
                <a:solidFill>
                  <a:srgbClr val="BEBEBE"/>
                </a:solidFill>
                <a:latin typeface="Verdana"/>
                <a:cs typeface="Verdana"/>
              </a:rPr>
              <a:t>SSR</a:t>
            </a:r>
            <a:r>
              <a:rPr sz="140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drafts,</a:t>
            </a:r>
            <a:r>
              <a:rPr sz="140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BEBEBE"/>
                </a:solidFill>
                <a:latin typeface="Verdana"/>
                <a:cs typeface="Verdana"/>
              </a:rPr>
              <a:t>criteria</a:t>
            </a:r>
            <a:r>
              <a:rPr sz="140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BEBEBE"/>
                </a:solidFill>
                <a:latin typeface="Verdana"/>
                <a:cs typeface="Verdana"/>
              </a:rPr>
              <a:t>inputs, </a:t>
            </a:r>
            <a:r>
              <a:rPr sz="1400" spc="-60" dirty="0">
                <a:solidFill>
                  <a:srgbClr val="BEBEBE"/>
                </a:solidFill>
                <a:latin typeface="Verdana"/>
                <a:cs typeface="Verdana"/>
              </a:rPr>
              <a:t>best-</a:t>
            </a: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practice</a:t>
            </a:r>
            <a:r>
              <a:rPr sz="1400" spc="-3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BEBEBE"/>
                </a:solidFill>
                <a:latin typeface="Verdana"/>
                <a:cs typeface="Verdana"/>
              </a:rPr>
              <a:t>documents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1146" y="3231918"/>
            <a:ext cx="2286635" cy="118237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009650">
              <a:lnSpc>
                <a:spcPct val="100000"/>
              </a:lnSpc>
              <a:spcBef>
                <a:spcPts val="1070"/>
              </a:spcBef>
            </a:pPr>
            <a:r>
              <a:rPr sz="1750" spc="305" dirty="0">
                <a:solidFill>
                  <a:srgbClr val="BEBEBE"/>
                </a:solidFill>
                <a:latin typeface="Tahoma"/>
                <a:cs typeface="Tahoma"/>
              </a:rPr>
              <a:t>RA“</a:t>
            </a:r>
            <a:r>
              <a:rPr sz="1750" spc="-19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750" spc="75" dirty="0">
                <a:solidFill>
                  <a:srgbClr val="BEBEBE"/>
                </a:solidFill>
                <a:latin typeface="Tahoma"/>
                <a:cs typeface="Tahoma"/>
              </a:rPr>
              <a:t>Enging</a:t>
            </a:r>
            <a:endParaRPr sz="1750">
              <a:latin typeface="Tahoma"/>
              <a:cs typeface="Tahoma"/>
            </a:endParaRPr>
          </a:p>
          <a:p>
            <a:pPr marL="12700" marR="5080" indent="468630" algn="r">
              <a:lnSpc>
                <a:spcPct val="108400"/>
              </a:lnSpc>
              <a:spcBef>
                <a:spcPts val="645"/>
              </a:spcBef>
            </a:pP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IBM</a:t>
            </a:r>
            <a:r>
              <a:rPr sz="140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BEBEBE"/>
                </a:solidFill>
                <a:latin typeface="Verdana"/>
                <a:cs typeface="Verdana"/>
              </a:rPr>
              <a:t>Granite</a:t>
            </a:r>
            <a:r>
              <a:rPr sz="140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BEBEBE"/>
                </a:solidFill>
                <a:latin typeface="Verdana"/>
                <a:cs typeface="Verdana"/>
              </a:rPr>
              <a:t>with</a:t>
            </a:r>
            <a:r>
              <a:rPr sz="140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BEBEBE"/>
                </a:solidFill>
                <a:latin typeface="Verdana"/>
                <a:cs typeface="Verdana"/>
              </a:rPr>
              <a:t>IBM </a:t>
            </a:r>
            <a:r>
              <a:rPr sz="1400" spc="-30" dirty="0">
                <a:solidFill>
                  <a:srgbClr val="BEBEBE"/>
                </a:solidFill>
                <a:latin typeface="Verdana"/>
                <a:cs typeface="Verdana"/>
              </a:rPr>
              <a:t>Cloud</a:t>
            </a:r>
            <a:r>
              <a:rPr sz="14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retrieval-augmented</a:t>
            </a:r>
            <a:endParaRPr sz="1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1400" spc="-10" dirty="0">
                <a:solidFill>
                  <a:srgbClr val="BEBEBE"/>
                </a:solidFill>
                <a:latin typeface="Verdana"/>
                <a:cs typeface="Verdana"/>
              </a:rPr>
              <a:t>generation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803" y="4147163"/>
            <a:ext cx="2006600" cy="95059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750" spc="55" dirty="0">
                <a:solidFill>
                  <a:srgbClr val="BEBEBE"/>
                </a:solidFill>
                <a:latin typeface="Tahoma"/>
                <a:cs typeface="Tahoma"/>
              </a:rPr>
              <a:t>D3t3</a:t>
            </a:r>
            <a:r>
              <a:rPr sz="1750" spc="-20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750" spc="-10" dirty="0">
                <a:solidFill>
                  <a:srgbClr val="BEBEBE"/>
                </a:solidFill>
                <a:latin typeface="Tahoma"/>
                <a:cs typeface="Tahoma"/>
              </a:rPr>
              <a:t>Ḻ3Qgí</a:t>
            </a:r>
            <a:endParaRPr sz="1750">
              <a:latin typeface="Tahoma"/>
              <a:cs typeface="Tahoma"/>
            </a:endParaRPr>
          </a:p>
          <a:p>
            <a:pPr marL="12700" marR="5080">
              <a:lnSpc>
                <a:spcPct val="103699"/>
              </a:lnSpc>
              <a:spcBef>
                <a:spcPts val="725"/>
              </a:spcBef>
            </a:pP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Institutional </a:t>
            </a:r>
            <a:r>
              <a:rPr sz="1400" spc="-85" dirty="0">
                <a:solidFill>
                  <a:srgbClr val="BEBEBE"/>
                </a:solidFill>
                <a:latin typeface="Verdana"/>
                <a:cs typeface="Verdana"/>
              </a:rPr>
              <a:t>DB,</a:t>
            </a:r>
            <a:r>
              <a:rPr sz="1400" spc="-5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BEBEBE"/>
                </a:solidFill>
                <a:latin typeface="Verdana"/>
                <a:cs typeface="Verdana"/>
              </a:rPr>
              <a:t>NAAC </a:t>
            </a:r>
            <a:r>
              <a:rPr sz="1400" spc="-55" dirty="0">
                <a:solidFill>
                  <a:srgbClr val="BEBEBE"/>
                </a:solidFill>
                <a:latin typeface="Verdana"/>
                <a:cs typeface="Verdana"/>
              </a:rPr>
              <a:t>guidelines,</a:t>
            </a:r>
            <a:r>
              <a:rPr sz="140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BEBEBE"/>
                </a:solidFill>
                <a:latin typeface="Verdana"/>
                <a:cs typeface="Verdana"/>
              </a:rPr>
              <a:t>past</a:t>
            </a:r>
            <a:r>
              <a:rPr sz="140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BEBEBE"/>
                </a:solidFill>
                <a:latin typeface="Verdana"/>
                <a:cs typeface="Verdana"/>
              </a:rPr>
              <a:t>reports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7374" y="6174739"/>
            <a:ext cx="974598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The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architecture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layers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trusted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data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sources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through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IBM's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RAG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engine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deliver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a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seamless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faculty-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facing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interface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all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accreditation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documentation</a:t>
            </a:r>
            <a:r>
              <a:rPr sz="1350" spc="-2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needs.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9" name="object 9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6736841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430000" cy="6438900"/>
            <a:chOff x="0" y="0"/>
            <a:chExt cx="11430000" cy="6438900"/>
          </a:xfrm>
        </p:grpSpPr>
        <p:sp>
          <p:nvSpPr>
            <p:cNvPr id="3" name="object 3"/>
            <p:cNvSpPr/>
            <p:nvPr/>
          </p:nvSpPr>
          <p:spPr>
            <a:xfrm>
              <a:off x="4286250" y="0"/>
              <a:ext cx="7143750" cy="6438900"/>
            </a:xfrm>
            <a:custGeom>
              <a:avLst/>
              <a:gdLst/>
              <a:ahLst/>
              <a:cxnLst/>
              <a:rect l="l" t="t" r="r" b="b"/>
              <a:pathLst>
                <a:path w="7143750" h="6438900">
                  <a:moveTo>
                    <a:pt x="0" y="6438900"/>
                  </a:moveTo>
                  <a:lnTo>
                    <a:pt x="7143750" y="6438900"/>
                  </a:lnTo>
                  <a:lnTo>
                    <a:pt x="7143750" y="0"/>
                  </a:lnTo>
                  <a:lnTo>
                    <a:pt x="0" y="0"/>
                  </a:lnTo>
                  <a:lnTo>
                    <a:pt x="0" y="643890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286250" cy="6438900"/>
            </a:xfrm>
            <a:custGeom>
              <a:avLst/>
              <a:gdLst/>
              <a:ahLst/>
              <a:cxnLst/>
              <a:rect l="l" t="t" r="r" b="b"/>
              <a:pathLst>
                <a:path w="4286250" h="6438900">
                  <a:moveTo>
                    <a:pt x="4286250" y="0"/>
                  </a:moveTo>
                  <a:lnTo>
                    <a:pt x="0" y="0"/>
                  </a:lnTo>
                  <a:lnTo>
                    <a:pt x="0" y="6438900"/>
                  </a:lnTo>
                  <a:lnTo>
                    <a:pt x="4286250" y="6438900"/>
                  </a:lnTo>
                  <a:lnTo>
                    <a:pt x="4286250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5" y="133349"/>
              <a:ext cx="4114799" cy="6172196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9275" rIns="0" bIns="0" rtlCol="0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Key</a:t>
            </a:r>
            <a:r>
              <a:rPr spc="-375" dirty="0"/>
              <a:t> </a:t>
            </a:r>
            <a:r>
              <a:rPr spc="-10" dirty="0"/>
              <a:t>Takeaways</a:t>
            </a:r>
          </a:p>
        </p:txBody>
      </p:sp>
      <p:sp>
        <p:nvSpPr>
          <p:cNvPr id="7" name="object 7"/>
          <p:cNvSpPr/>
          <p:nvPr/>
        </p:nvSpPr>
        <p:spPr>
          <a:xfrm>
            <a:off x="4886325" y="1809749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16347" y="1817293"/>
            <a:ext cx="12573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355" dirty="0">
                <a:solidFill>
                  <a:srgbClr val="BEBEBE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0833" y="1849440"/>
            <a:ext cx="460565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240" dirty="0">
                <a:solidFill>
                  <a:srgbClr val="BEBEBE"/>
                </a:solidFill>
                <a:latin typeface="Tahoma"/>
                <a:cs typeface="Tahoma"/>
              </a:rPr>
              <a:t>RA“-</a:t>
            </a:r>
            <a:r>
              <a:rPr sz="1650" spc="110" dirty="0">
                <a:solidFill>
                  <a:srgbClr val="BEBEBE"/>
                </a:solidFill>
                <a:latin typeface="Tahoma"/>
                <a:cs typeface="Tahoma"/>
              </a:rPr>
              <a:t>Powgígd</a:t>
            </a:r>
            <a:r>
              <a:rPr sz="1650" spc="-15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95" dirty="0">
                <a:solidFill>
                  <a:srgbClr val="BEBEBE"/>
                </a:solidFill>
                <a:latin typeface="Tahoma"/>
                <a:cs typeface="Tahoma"/>
              </a:rPr>
              <a:t>Pígcision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90"/>
              </a:spcBef>
            </a:pP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Grounded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in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institutional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data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NAAC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guidelines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dirty="0">
                <a:solidFill>
                  <a:srgbClr val="BEBEBE"/>
                </a:solidFill>
                <a:latin typeface="Verdana"/>
                <a:cs typeface="Verdana"/>
              </a:rPr>
              <a:t>—</a:t>
            </a:r>
            <a:r>
              <a:rPr sz="1350" spc="-8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no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hallucinations,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full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compliance.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86325" y="3124199"/>
            <a:ext cx="390525" cy="390525"/>
          </a:xfrm>
          <a:custGeom>
            <a:avLst/>
            <a:gdLst/>
            <a:ahLst/>
            <a:cxnLst/>
            <a:rect l="l" t="t" r="r" b="b"/>
            <a:pathLst>
              <a:path w="390525" h="390525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69100"/>
                </a:lnTo>
                <a:lnTo>
                  <a:pt x="0" y="371932"/>
                </a:lnTo>
                <a:lnTo>
                  <a:pt x="18592" y="390525"/>
                </a:lnTo>
                <a:lnTo>
                  <a:pt x="371932" y="390525"/>
                </a:lnTo>
                <a:lnTo>
                  <a:pt x="390525" y="371932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995519" y="3141268"/>
            <a:ext cx="1676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BEBEBE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0841" y="3163890"/>
            <a:ext cx="4411345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BEBEBE"/>
                </a:solidFill>
                <a:latin typeface="Tahoma"/>
                <a:cs typeface="Tahoma"/>
              </a:rPr>
              <a:t>F3cultQ</a:t>
            </a:r>
            <a:r>
              <a:rPr sz="1650" spc="-3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105" dirty="0">
                <a:solidFill>
                  <a:srgbClr val="BEBEBE"/>
                </a:solidFill>
                <a:latin typeface="Tahoma"/>
                <a:cs typeface="Tahoma"/>
              </a:rPr>
              <a:t>Empowgímgnt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Automates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70" dirty="0">
                <a:solidFill>
                  <a:srgbClr val="BEBEBE"/>
                </a:solidFill>
                <a:latin typeface="Verdana"/>
                <a:cs typeface="Verdana"/>
              </a:rPr>
              <a:t>SSR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drafts,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criteria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inputs,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8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best</a:t>
            </a:r>
            <a:r>
              <a:rPr sz="1350" spc="-7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BEBEBE"/>
                </a:solidFill>
                <a:latin typeface="Verdana"/>
                <a:cs typeface="Verdana"/>
              </a:rPr>
              <a:t>practice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documentation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to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reduce</a:t>
            </a:r>
            <a:r>
              <a:rPr sz="1350" spc="-6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repetitive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workload.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86325" y="4448175"/>
            <a:ext cx="390525" cy="381000"/>
          </a:xfrm>
          <a:custGeom>
            <a:avLst/>
            <a:gdLst/>
            <a:ahLst/>
            <a:cxnLst/>
            <a:rect l="l" t="t" r="r" b="b"/>
            <a:pathLst>
              <a:path w="390525" h="381000">
                <a:moveTo>
                  <a:pt x="371932" y="0"/>
                </a:moveTo>
                <a:lnTo>
                  <a:pt x="18592" y="0"/>
                </a:lnTo>
                <a:lnTo>
                  <a:pt x="15849" y="546"/>
                </a:lnTo>
                <a:lnTo>
                  <a:pt x="0" y="18592"/>
                </a:lnTo>
                <a:lnTo>
                  <a:pt x="0" y="359575"/>
                </a:lnTo>
                <a:lnTo>
                  <a:pt x="0" y="362407"/>
                </a:lnTo>
                <a:lnTo>
                  <a:pt x="18592" y="381000"/>
                </a:lnTo>
                <a:lnTo>
                  <a:pt x="371932" y="381000"/>
                </a:lnTo>
                <a:lnTo>
                  <a:pt x="390525" y="362407"/>
                </a:lnTo>
                <a:lnTo>
                  <a:pt x="390525" y="18592"/>
                </a:lnTo>
                <a:lnTo>
                  <a:pt x="374675" y="546"/>
                </a:lnTo>
                <a:lnTo>
                  <a:pt x="371932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92242" y="4465243"/>
            <a:ext cx="17399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5" dirty="0">
                <a:solidFill>
                  <a:srgbClr val="BEBEBE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0840" y="4487865"/>
            <a:ext cx="4852670" cy="9124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BEBEBE"/>
                </a:solidFill>
                <a:latin typeface="Tahoma"/>
                <a:cs typeface="Tahoma"/>
              </a:rPr>
              <a:t>IBM-</a:t>
            </a:r>
            <a:r>
              <a:rPr sz="1650" spc="70" dirty="0">
                <a:solidFill>
                  <a:srgbClr val="BEBEBE"/>
                </a:solidFill>
                <a:latin typeface="Tahoma"/>
                <a:cs typeface="Tahoma"/>
              </a:rPr>
              <a:t>B3ckgd</a:t>
            </a:r>
            <a:r>
              <a:rPr sz="1650" spc="-1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1650" spc="75" dirty="0">
                <a:solidFill>
                  <a:srgbClr val="BEBEBE"/>
                </a:solidFill>
                <a:latin typeface="Tahoma"/>
                <a:cs typeface="Tahoma"/>
              </a:rPr>
              <a:t>Inrí3stíuctuíg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Built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BEBEBE"/>
                </a:solidFill>
                <a:latin typeface="Verdana"/>
                <a:cs typeface="Verdana"/>
              </a:rPr>
              <a:t>on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IBM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BEBEBE"/>
                </a:solidFill>
                <a:latin typeface="Verdana"/>
                <a:cs typeface="Verdana"/>
              </a:rPr>
              <a:t>Cloud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Lite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BEBEBE"/>
                </a:solidFill>
                <a:latin typeface="Verdana"/>
                <a:cs typeface="Verdana"/>
              </a:rPr>
              <a:t>IBM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BEBEBE"/>
                </a:solidFill>
                <a:latin typeface="Verdana"/>
                <a:cs typeface="Verdana"/>
              </a:rPr>
              <a:t>Granite</a:t>
            </a:r>
            <a:r>
              <a:rPr sz="1350" spc="-10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BEBEBE"/>
                </a:solidFill>
                <a:latin typeface="Verdana"/>
                <a:cs typeface="Verdana"/>
              </a:rPr>
              <a:t>for</a:t>
            </a:r>
            <a:r>
              <a:rPr sz="1350" spc="-95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BEBEBE"/>
                </a:solidFill>
                <a:latin typeface="Verdana"/>
                <a:cs typeface="Verdana"/>
              </a:rPr>
              <a:t>enterprise-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grade </a:t>
            </a:r>
            <a:r>
              <a:rPr sz="1350" spc="-60" dirty="0">
                <a:solidFill>
                  <a:srgbClr val="BEBEBE"/>
                </a:solidFill>
                <a:latin typeface="Verdana"/>
                <a:cs typeface="Verdana"/>
              </a:rPr>
              <a:t>security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BEBEBE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BEBEBE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BEBEBE"/>
                </a:solidFill>
                <a:latin typeface="Verdana"/>
                <a:cs typeface="Verdana"/>
              </a:rPr>
              <a:t>reliability.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75658F-DB6B-5986-42AD-05F8029FB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71499"/>
            <a:ext cx="16992600" cy="87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6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A333012-AF01-1689-6CB6-ACA6A066F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19100"/>
            <a:ext cx="17221200" cy="937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19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496</Words>
  <Application>Microsoft Office PowerPoint</Application>
  <PresentationFormat>Custom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 Black</vt:lpstr>
      <vt:lpstr>Calibri</vt:lpstr>
      <vt:lpstr>Roman</vt:lpstr>
      <vt:lpstr>Sitka Text</vt:lpstr>
      <vt:lpstr>Tahoma</vt:lpstr>
      <vt:lpstr>Times New Roman</vt:lpstr>
      <vt:lpstr>Verdana</vt:lpstr>
      <vt:lpstr>Office Theme</vt:lpstr>
      <vt:lpstr>ProjectTitle– Al-PoweredNAACAccreditationAssistant</vt:lpstr>
      <vt:lpstr>AI-Powgígd NAAC Accígdit3tion Assist3nt</vt:lpstr>
      <vt:lpstr>The Accíeditation Challenge</vt:lpstr>
      <vt:lpstr>Wk3t Is RA“?</vt:lpstr>
      <vt:lpstr>How tkg AI Aggnt Woíks</vt:lpstr>
      <vt:lpstr>Coíg C3p3bilitigs</vt:lpstr>
      <vt:lpstr>Tíustgd, “íoundgd Answgís</vt:lpstr>
      <vt:lpstr>Impact on Faculty Woíkflow</vt:lpstr>
      <vt:lpstr>Technology Stack</vt:lpstr>
      <vt:lpstr>End-to-End Aíckitgctuíg</vt:lpstr>
      <vt:lpstr>Key Takeaways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Sakshi</dc:creator>
  <cp:lastModifiedBy>Sakshi Chimukale</cp:lastModifiedBy>
  <cp:revision>3</cp:revision>
  <dcterms:created xsi:type="dcterms:W3CDTF">2026-07-12T14:22:35Z</dcterms:created>
  <dcterms:modified xsi:type="dcterms:W3CDTF">2026-07-12T16:49:03Z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2026-07-12T00:00:00Z</vt:filetime>
  </property>
  <property fmtid="{D5CDD505-2E9C-101B-9397-08002B2CF9AE}" pid="4" name="LastSaved">
    <vt:filetime>2026-07-12T00:00:00Z</vt:filetime>
  </property>
  <property fmtid="{D5CDD505-2E9C-101B-9397-08002B2CF9AE}" pid="5" name="Producer">
    <vt:lpwstr>iLovePDF</vt:lpwstr>
  </property>
</Properties>
</file>